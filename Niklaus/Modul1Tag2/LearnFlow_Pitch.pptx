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60" r:id="rId8"/>
    <p:sldId id="259" r:id="rId9"/>
    <p:sldId id="261" r:id="rId10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B1C886-75D2-0461-0589-13664DD58016}" v="335" dt="2026-05-04T16:21:18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ucki Reto Roland" userId="S::stucr1@bfh.ch::39bb6099-57d7-4a2a-96e7-ab070863cd9e" providerId="AD" clId="Web-{C2B1C886-75D2-0461-0589-13664DD58016}"/>
    <pc:docChg chg="modSld sldOrd">
      <pc:chgData name="Stucki Reto Roland" userId="S::stucr1@bfh.ch::39bb6099-57d7-4a2a-96e7-ab070863cd9e" providerId="AD" clId="Web-{C2B1C886-75D2-0461-0589-13664DD58016}" dt="2026-05-04T16:21:18.778" v="176" actId="1076"/>
      <pc:docMkLst>
        <pc:docMk/>
      </pc:docMkLst>
      <pc:sldChg chg="modSp">
        <pc:chgData name="Stucki Reto Roland" userId="S::stucr1@bfh.ch::39bb6099-57d7-4a2a-96e7-ab070863cd9e" providerId="AD" clId="Web-{C2B1C886-75D2-0461-0589-13664DD58016}" dt="2026-05-04T15:47:35.636" v="22" actId="20577"/>
        <pc:sldMkLst>
          <pc:docMk/>
          <pc:sldMk cId="0" sldId="256"/>
        </pc:sldMkLst>
        <pc:spChg chg="mod">
          <ac:chgData name="Stucki Reto Roland" userId="S::stucr1@bfh.ch::39bb6099-57d7-4a2a-96e7-ab070863cd9e" providerId="AD" clId="Web-{C2B1C886-75D2-0461-0589-13664DD58016}" dt="2026-05-04T15:47:35.636" v="22" actId="20577"/>
          <ac:spMkLst>
            <pc:docMk/>
            <pc:sldMk cId="0" sldId="256"/>
            <ac:spMk id="48" creationId="{00000000-0000-0000-0000-000000000000}"/>
          </ac:spMkLst>
        </pc:spChg>
      </pc:sldChg>
      <pc:sldChg chg="modSp">
        <pc:chgData name="Stucki Reto Roland" userId="S::stucr1@bfh.ch::39bb6099-57d7-4a2a-96e7-ab070863cd9e" providerId="AD" clId="Web-{C2B1C886-75D2-0461-0589-13664DD58016}" dt="2026-05-04T15:55:58.465" v="24" actId="20577"/>
        <pc:sldMkLst>
          <pc:docMk/>
          <pc:sldMk cId="0" sldId="257"/>
        </pc:sldMkLst>
        <pc:spChg chg="mod">
          <ac:chgData name="Stucki Reto Roland" userId="S::stucr1@bfh.ch::39bb6099-57d7-4a2a-96e7-ab070863cd9e" providerId="AD" clId="Web-{C2B1C886-75D2-0461-0589-13664DD58016}" dt="2026-05-04T15:55:58.465" v="24" actId="20577"/>
          <ac:spMkLst>
            <pc:docMk/>
            <pc:sldMk cId="0" sldId="257"/>
            <ac:spMk id="56" creationId="{00000000-0000-0000-0000-000000000000}"/>
          </ac:spMkLst>
        </pc:spChg>
      </pc:sldChg>
      <pc:sldChg chg="modSp">
        <pc:chgData name="Stucki Reto Roland" userId="S::stucr1@bfh.ch::39bb6099-57d7-4a2a-96e7-ab070863cd9e" providerId="AD" clId="Web-{C2B1C886-75D2-0461-0589-13664DD58016}" dt="2026-05-04T16:10:53.090" v="144" actId="20577"/>
        <pc:sldMkLst>
          <pc:docMk/>
          <pc:sldMk cId="0" sldId="259"/>
        </pc:sldMkLst>
        <pc:spChg chg="mod">
          <ac:chgData name="Stucki Reto Roland" userId="S::stucr1@bfh.ch::39bb6099-57d7-4a2a-96e7-ab070863cd9e" providerId="AD" clId="Web-{C2B1C886-75D2-0461-0589-13664DD58016}" dt="2026-05-04T16:10:53.090" v="144" actId="20577"/>
          <ac:spMkLst>
            <pc:docMk/>
            <pc:sldMk cId="0" sldId="259"/>
            <ac:spMk id="110" creationId="{00000000-0000-0000-0000-000000000000}"/>
          </ac:spMkLst>
        </pc:spChg>
      </pc:sldChg>
      <pc:sldChg chg="ord">
        <pc:chgData name="Stucki Reto Roland" userId="S::stucr1@bfh.ch::39bb6099-57d7-4a2a-96e7-ab070863cd9e" providerId="AD" clId="Web-{C2B1C886-75D2-0461-0589-13664DD58016}" dt="2026-05-04T16:02:23.340" v="25"/>
        <pc:sldMkLst>
          <pc:docMk/>
          <pc:sldMk cId="0" sldId="260"/>
        </pc:sldMkLst>
      </pc:sldChg>
      <pc:sldChg chg="delSp modSp">
        <pc:chgData name="Stucki Reto Roland" userId="S::stucr1@bfh.ch::39bb6099-57d7-4a2a-96e7-ab070863cd9e" providerId="AD" clId="Web-{C2B1C886-75D2-0461-0589-13664DD58016}" dt="2026-05-04T16:21:18.778" v="176" actId="1076"/>
        <pc:sldMkLst>
          <pc:docMk/>
          <pc:sldMk cId="0" sldId="261"/>
        </pc:sldMkLst>
        <pc:spChg chg="mod">
          <ac:chgData name="Stucki Reto Roland" userId="S::stucr1@bfh.ch::39bb6099-57d7-4a2a-96e7-ab070863cd9e" providerId="AD" clId="Web-{C2B1C886-75D2-0461-0589-13664DD58016}" dt="2026-05-04T16:18:03.966" v="160" actId="14100"/>
          <ac:spMkLst>
            <pc:docMk/>
            <pc:sldMk cId="0" sldId="261"/>
            <ac:spMk id="173" creationId="{00000000-0000-0000-0000-000000000000}"/>
          </ac:spMkLst>
        </pc:spChg>
        <pc:spChg chg="del">
          <ac:chgData name="Stucki Reto Roland" userId="S::stucr1@bfh.ch::39bb6099-57d7-4a2a-96e7-ab070863cd9e" providerId="AD" clId="Web-{C2B1C886-75D2-0461-0589-13664DD58016}" dt="2026-05-04T16:18:17.153" v="161"/>
          <ac:spMkLst>
            <pc:docMk/>
            <pc:sldMk cId="0" sldId="261"/>
            <ac:spMk id="174" creationId="{00000000-0000-0000-0000-000000000000}"/>
          </ac:spMkLst>
        </pc:spChg>
        <pc:spChg chg="mod">
          <ac:chgData name="Stucki Reto Roland" userId="S::stucr1@bfh.ch::39bb6099-57d7-4a2a-96e7-ab070863cd9e" providerId="AD" clId="Web-{C2B1C886-75D2-0461-0589-13664DD58016}" dt="2026-05-04T16:21:18.778" v="176" actId="1076"/>
          <ac:spMkLst>
            <pc:docMk/>
            <pc:sldMk cId="0" sldId="261"/>
            <ac:spMk id="176" creationId="{00000000-0000-0000-0000-000000000000}"/>
          </ac:spMkLst>
        </pc:spChg>
        <pc:spChg chg="del">
          <ac:chgData name="Stucki Reto Roland" userId="S::stucr1@bfh.ch::39bb6099-57d7-4a2a-96e7-ab070863cd9e" providerId="AD" clId="Web-{C2B1C886-75D2-0461-0589-13664DD58016}" dt="2026-05-04T16:20:40.606" v="169"/>
          <ac:spMkLst>
            <pc:docMk/>
            <pc:sldMk cId="0" sldId="261"/>
            <ac:spMk id="178" creationId="{00000000-0000-0000-0000-000000000000}"/>
          </ac:spMkLst>
        </pc:spChg>
        <pc:spChg chg="mod">
          <ac:chgData name="Stucki Reto Roland" userId="S::stucr1@bfh.ch::39bb6099-57d7-4a2a-96e7-ab070863cd9e" providerId="AD" clId="Web-{C2B1C886-75D2-0461-0589-13664DD58016}" dt="2026-05-04T16:20:52.185" v="171" actId="1076"/>
          <ac:spMkLst>
            <pc:docMk/>
            <pc:sldMk cId="0" sldId="261"/>
            <ac:spMk id="180" creationId="{00000000-0000-0000-0000-000000000000}"/>
          </ac:spMkLst>
        </pc:spChg>
        <pc:spChg chg="del">
          <ac:chgData name="Stucki Reto Roland" userId="S::stucr1@bfh.ch::39bb6099-57d7-4a2a-96e7-ab070863cd9e" providerId="AD" clId="Web-{C2B1C886-75D2-0461-0589-13664DD58016}" dt="2026-05-04T16:21:01.778" v="174"/>
          <ac:spMkLst>
            <pc:docMk/>
            <pc:sldMk cId="0" sldId="261"/>
            <ac:spMk id="181" creationId="{00000000-0000-0000-0000-000000000000}"/>
          </ac:spMkLst>
        </pc:spChg>
        <pc:spChg chg="mod">
          <ac:chgData name="Stucki Reto Roland" userId="S::stucr1@bfh.ch::39bb6099-57d7-4a2a-96e7-ab070863cd9e" providerId="AD" clId="Web-{C2B1C886-75D2-0461-0589-13664DD58016}" dt="2026-05-04T16:20:52.200" v="172" actId="1076"/>
          <ac:spMkLst>
            <pc:docMk/>
            <pc:sldMk cId="0" sldId="261"/>
            <ac:spMk id="182" creationId="{00000000-0000-0000-0000-000000000000}"/>
          </ac:spMkLst>
        </pc:spChg>
        <pc:spChg chg="del">
          <ac:chgData name="Stucki Reto Roland" userId="S::stucr1@bfh.ch::39bb6099-57d7-4a2a-96e7-ab070863cd9e" providerId="AD" clId="Web-{C2B1C886-75D2-0461-0589-13664DD58016}" dt="2026-05-04T16:15:33.887" v="146"/>
          <ac:spMkLst>
            <pc:docMk/>
            <pc:sldMk cId="0" sldId="261"/>
            <ac:spMk id="183" creationId="{00000000-0000-0000-0000-000000000000}"/>
          </ac:spMkLst>
        </pc:spChg>
        <pc:spChg chg="del">
          <ac:chgData name="Stucki Reto Roland" userId="S::stucr1@bfh.ch::39bb6099-57d7-4a2a-96e7-ab070863cd9e" providerId="AD" clId="Web-{C2B1C886-75D2-0461-0589-13664DD58016}" dt="2026-05-04T16:15:32.216" v="145"/>
          <ac:spMkLst>
            <pc:docMk/>
            <pc:sldMk cId="0" sldId="261"/>
            <ac:spMk id="184" creationId="{00000000-0000-0000-0000-000000000000}"/>
          </ac:spMkLst>
        </pc:spChg>
        <pc:spChg chg="del">
          <ac:chgData name="Stucki Reto Roland" userId="S::stucr1@bfh.ch::39bb6099-57d7-4a2a-96e7-ab070863cd9e" providerId="AD" clId="Web-{C2B1C886-75D2-0461-0589-13664DD58016}" dt="2026-05-04T16:18:20.200" v="162"/>
          <ac:spMkLst>
            <pc:docMk/>
            <pc:sldMk cId="0" sldId="261"/>
            <ac:spMk id="187" creationId="{00000000-0000-0000-0000-000000000000}"/>
          </ac:spMkLst>
        </pc:spChg>
        <pc:spChg chg="del">
          <ac:chgData name="Stucki Reto Roland" userId="S::stucr1@bfh.ch::39bb6099-57d7-4a2a-96e7-ab070863cd9e" providerId="AD" clId="Web-{C2B1C886-75D2-0461-0589-13664DD58016}" dt="2026-05-04T16:18:39.060" v="163"/>
          <ac:spMkLst>
            <pc:docMk/>
            <pc:sldMk cId="0" sldId="261"/>
            <ac:spMk id="190" creationId="{00000000-0000-0000-0000-000000000000}"/>
          </ac:spMkLst>
        </pc:spChg>
        <pc:spChg chg="mod">
          <ac:chgData name="Stucki Reto Roland" userId="S::stucr1@bfh.ch::39bb6099-57d7-4a2a-96e7-ab070863cd9e" providerId="AD" clId="Web-{C2B1C886-75D2-0461-0589-13664DD58016}" dt="2026-05-04T16:18:53.794" v="164" actId="1076"/>
          <ac:spMkLst>
            <pc:docMk/>
            <pc:sldMk cId="0" sldId="261"/>
            <ac:spMk id="193" creationId="{00000000-0000-0000-0000-000000000000}"/>
          </ac:spMkLst>
        </pc:spChg>
        <pc:spChg chg="mod">
          <ac:chgData name="Stucki Reto Roland" userId="S::stucr1@bfh.ch::39bb6099-57d7-4a2a-96e7-ab070863cd9e" providerId="AD" clId="Web-{C2B1C886-75D2-0461-0589-13664DD58016}" dt="2026-05-04T16:18:53.810" v="165" actId="1076"/>
          <ac:spMkLst>
            <pc:docMk/>
            <pc:sldMk cId="0" sldId="261"/>
            <ac:spMk id="196" creationId="{00000000-0000-0000-0000-000000000000}"/>
          </ac:spMkLst>
        </pc:spChg>
        <pc:spChg chg="del">
          <ac:chgData name="Stucki Reto Roland" userId="S::stucr1@bfh.ch::39bb6099-57d7-4a2a-96e7-ab070863cd9e" providerId="AD" clId="Web-{C2B1C886-75D2-0461-0589-13664DD58016}" dt="2026-05-04T16:21:04.575" v="175"/>
          <ac:spMkLst>
            <pc:docMk/>
            <pc:sldMk cId="0" sldId="261"/>
            <ac:spMk id="197" creationId="{00000000-0000-0000-0000-000000000000}"/>
          </ac:spMkLst>
        </pc:spChg>
        <pc:spChg chg="del mod">
          <ac:chgData name="Stucki Reto Roland" userId="S::stucr1@bfh.ch::39bb6099-57d7-4a2a-96e7-ab070863cd9e" providerId="AD" clId="Web-{C2B1C886-75D2-0461-0589-13664DD58016}" dt="2026-05-04T16:20:44.075" v="170"/>
          <ac:spMkLst>
            <pc:docMk/>
            <pc:sldMk cId="0" sldId="261"/>
            <ac:spMk id="199" creationId="{00000000-0000-0000-0000-000000000000}"/>
          </ac:spMkLst>
        </pc:spChg>
        <pc:spChg chg="del">
          <ac:chgData name="Stucki Reto Roland" userId="S::stucr1@bfh.ch::39bb6099-57d7-4a2a-96e7-ab070863cd9e" providerId="AD" clId="Web-{C2B1C886-75D2-0461-0589-13664DD58016}" dt="2026-05-04T16:18:54.075" v="168"/>
          <ac:spMkLst>
            <pc:docMk/>
            <pc:sldMk cId="0" sldId="261"/>
            <ac:spMk id="200" creationId="{00000000-0000-0000-0000-000000000000}"/>
          </ac:spMkLst>
        </pc:spChg>
        <pc:spChg chg="mod">
          <ac:chgData name="Stucki Reto Roland" userId="S::stucr1@bfh.ch::39bb6099-57d7-4a2a-96e7-ab070863cd9e" providerId="AD" clId="Web-{C2B1C886-75D2-0461-0589-13664DD58016}" dt="2026-05-04T16:20:58.903" v="173" actId="1076"/>
          <ac:spMkLst>
            <pc:docMk/>
            <pc:sldMk cId="0" sldId="261"/>
            <ac:spMk id="20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C6EB4C7-C82C-4E89-ADF5-C26372CC85A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de-CH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EADD6E0-2F4E-4019-8ADB-ED7BD7411575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BAAEA86-CA6A-4225-8A70-89B671A8843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932247B-B87B-4314-A5F4-063AE06B9E7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64580DD-3004-472C-B577-32E81351D09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de-CH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F2EC8A7-5178-4F0D-99F6-520926A4EF8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7F19F16-34C7-45A0-B3A7-8CC93178603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0CA29E1-0428-4D4D-A2A5-18D842E701A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4671442-5218-47F5-9DDF-E4D69190041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FB10EA-5270-46AB-97BE-3480A9ACA36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7670004-9063-4E34-8177-94E7628C963C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1817A71-D8CE-41AD-A823-8DEA9CB4647C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&lt;Datum/Uhrzeit&gt;</a:t>
            </a:r>
            <a:endParaRPr lang="de-CH" sz="1200" b="0" strike="noStrike" spc="-1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de-CH" sz="1400" b="0" strike="noStrike" spc="-1"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CH" sz="1400" b="0" strike="noStrike" spc="-1">
                <a:latin typeface="Times New Roman"/>
              </a:rPr>
              <a:t>&lt;Fußzeile&gt;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4D3E1E-06D3-465B-9897-F7D1210A1CA2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de-CH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Format des Titeltextes durch Klicken bearbeiten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Format des Gliederungstextes durch Klicken bearbeiten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Zweite Gliederungsebene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Dritte Gliederungsebene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Vierte Gliederungsebene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Fünfte Gliederungsebene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Sechste Gliederungsebene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Siebte Gliederungsebene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4C5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Rectangle 2"/>
          <p:cNvSpPr/>
          <p:nvPr/>
        </p:nvSpPr>
        <p:spPr>
          <a:xfrm>
            <a:off x="11338560" y="0"/>
            <a:ext cx="849960" cy="6857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Rectangle 3"/>
          <p:cNvSpPr/>
          <p:nvPr/>
        </p:nvSpPr>
        <p:spPr>
          <a:xfrm>
            <a:off x="11750040" y="0"/>
            <a:ext cx="438480" cy="685764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TextBox 4"/>
          <p:cNvSpPr/>
          <p:nvPr/>
        </p:nvSpPr>
        <p:spPr>
          <a:xfrm>
            <a:off x="640080" y="548640"/>
            <a:ext cx="1005804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100" b="1" strike="noStrike" spc="-1">
                <a:solidFill>
                  <a:srgbClr val="00A896"/>
                </a:solidFill>
                <a:latin typeface="Calibri"/>
              </a:rPr>
              <a:t>CAS ADAI 2026  ·  MODUL 1 TAG 1  ·  PROJEKT-KICKOFF</a:t>
            </a:r>
            <a:endParaRPr lang="de-CH" sz="1100" b="0" strike="noStrike" spc="-1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640080" y="2194560"/>
            <a:ext cx="10058040" cy="15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8800" b="1" strike="noStrike" spc="-1">
                <a:solidFill>
                  <a:srgbClr val="FFFFFF"/>
                </a:solidFill>
                <a:latin typeface="Calibri"/>
              </a:rPr>
              <a:t>LearnFlow</a:t>
            </a:r>
            <a:endParaRPr lang="de-CH" sz="8800" b="0" strike="noStrike" spc="-1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640080" y="3703320"/>
            <a:ext cx="10058040" cy="75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2200" b="0" strike="noStrike" spc="-1">
                <a:solidFill>
                  <a:srgbClr val="FAF9F6"/>
                </a:solidFill>
                <a:latin typeface="Calibri"/>
              </a:rPr>
              <a:t>KI-gestützte Lernplattform für die fachliche</a:t>
            </a:r>
            <a:endParaRPr lang="de-CH" sz="2200" b="0" strike="noStrike" spc="-1"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US" sz="2200" b="0" strike="noStrike" spc="-1">
                <a:solidFill>
                  <a:srgbClr val="FAF9F6"/>
                </a:solidFill>
                <a:latin typeface="Calibri"/>
              </a:rPr>
              <a:t>Einarbeitung neuer Mitarbeiter:innen</a:t>
            </a:r>
            <a:endParaRPr lang="de-CH" sz="2200" b="0" strike="noStrike" spc="-1">
              <a:latin typeface="Arial"/>
            </a:endParaRPr>
          </a:p>
        </p:txBody>
      </p:sp>
      <p:sp>
        <p:nvSpPr>
          <p:cNvPr id="47" name="Rectangle 7"/>
          <p:cNvSpPr/>
          <p:nvPr/>
        </p:nvSpPr>
        <p:spPr>
          <a:xfrm>
            <a:off x="640080" y="6035040"/>
            <a:ext cx="10058040" cy="3636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" name="TextBox 8"/>
          <p:cNvSpPr/>
          <p:nvPr/>
        </p:nvSpPr>
        <p:spPr>
          <a:xfrm>
            <a:off x="640080" y="6172200"/>
            <a:ext cx="4571640" cy="2317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Frank Moritz</a:t>
            </a:r>
            <a:r>
              <a:rPr lang="en-US" sz="1400" b="1" spc="-1">
                <a:solidFill>
                  <a:srgbClr val="FFFFFF"/>
                </a:solidFill>
                <a:latin typeface="Calibri"/>
              </a:rPr>
              <a:t>, Niklaus Lüthi, Reto Stucki</a:t>
            </a:r>
            <a:endParaRPr lang="de-CH" sz="1400" b="0" strike="noStrike" spc="-1">
              <a:latin typeface="Arial"/>
            </a:endParaRPr>
          </a:p>
        </p:txBody>
      </p:sp>
      <p:sp>
        <p:nvSpPr>
          <p:cNvPr id="49" name="TextBox 9"/>
          <p:cNvSpPr/>
          <p:nvPr/>
        </p:nvSpPr>
        <p:spPr>
          <a:xfrm>
            <a:off x="7040880" y="6172200"/>
            <a:ext cx="411444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1200" b="0" strike="noStrike" spc="-1">
                <a:solidFill>
                  <a:srgbClr val="FAF9F6"/>
                </a:solidFill>
                <a:latin typeface="Calibri"/>
              </a:rPr>
              <a:t>5-Minuten-Pitch  ·  3. Mai 2026</a:t>
            </a:r>
            <a:endParaRPr lang="de-CH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9F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TextBox 2"/>
          <p:cNvSpPr/>
          <p:nvPr/>
        </p:nvSpPr>
        <p:spPr>
          <a:xfrm>
            <a:off x="640080" y="502920"/>
            <a:ext cx="1097244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100" b="1" strike="noStrike" spc="-1">
                <a:solidFill>
                  <a:srgbClr val="028090"/>
                </a:solidFill>
                <a:latin typeface="Calibri"/>
              </a:rPr>
              <a:t>01 · DIE IDEE IN EINEM SATZ</a:t>
            </a:r>
            <a:endParaRPr lang="de-CH" sz="1100" b="0" strike="noStrike" spc="-1"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640080" y="777240"/>
            <a:ext cx="1097244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3200" b="1" strike="noStrike" spc="-1">
                <a:solidFill>
                  <a:srgbClr val="0F4C5C"/>
                </a:solidFill>
                <a:latin typeface="Calibri"/>
              </a:rPr>
              <a:t>Worum geht es bei LearnFlow?</a:t>
            </a:r>
            <a:endParaRPr lang="de-CH" sz="3200" b="0" strike="noStrike" spc="-1">
              <a:latin typeface="Arial"/>
            </a:endParaRPr>
          </a:p>
        </p:txBody>
      </p:sp>
      <p:sp>
        <p:nvSpPr>
          <p:cNvPr id="53" name="Rectangle 4"/>
          <p:cNvSpPr/>
          <p:nvPr/>
        </p:nvSpPr>
        <p:spPr>
          <a:xfrm>
            <a:off x="640080" y="1627560"/>
            <a:ext cx="548280" cy="4536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Rectangle 5"/>
          <p:cNvSpPr/>
          <p:nvPr/>
        </p:nvSpPr>
        <p:spPr>
          <a:xfrm>
            <a:off x="640080" y="2011680"/>
            <a:ext cx="10972440" cy="2285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Rectangle 6"/>
          <p:cNvSpPr/>
          <p:nvPr/>
        </p:nvSpPr>
        <p:spPr>
          <a:xfrm>
            <a:off x="640080" y="2011680"/>
            <a:ext cx="109440" cy="2285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TextBox 7"/>
          <p:cNvSpPr/>
          <p:nvPr/>
        </p:nvSpPr>
        <p:spPr>
          <a:xfrm>
            <a:off x="960120" y="2194560"/>
            <a:ext cx="10515240" cy="14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Eine interne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Lernplattform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, die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neuen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Entwickler:innen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, Requirements-Engineers und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Tester:innen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das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fachliche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Domänen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- und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Systemwissen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historisch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gewachsenen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Fachanwendungen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über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quellenbelegte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KI-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Antworten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und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überprüfte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Quizfragen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zugänglich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macht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– auf Basis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eines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kuratierten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,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vom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Fachbereich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freigegebenen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800" b="0" strike="noStrike" spc="-1" err="1">
                <a:solidFill>
                  <a:srgbClr val="1F2937"/>
                </a:solidFill>
                <a:latin typeface="Calibri"/>
              </a:rPr>
              <a:t>Lern-Korpus</a:t>
            </a:r>
            <a:r>
              <a:rPr lang="en-US" sz="1800" b="0" strike="noStrike" spc="-1">
                <a:solidFill>
                  <a:srgbClr val="1F2937"/>
                </a:solidFill>
                <a:latin typeface="Calibri"/>
              </a:rPr>
              <a:t>.</a:t>
            </a:r>
            <a:endParaRPr lang="de-CH" sz="1800" b="0" strike="noStrike" spc="-1">
              <a:latin typeface="Arial"/>
            </a:endParaRPr>
          </a:p>
        </p:txBody>
      </p:sp>
      <p:sp>
        <p:nvSpPr>
          <p:cNvPr id="57" name="TextBox 8"/>
          <p:cNvSpPr/>
          <p:nvPr/>
        </p:nvSpPr>
        <p:spPr>
          <a:xfrm>
            <a:off x="640080" y="461772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00" b="1" strike="noStrike" spc="-1">
                <a:solidFill>
                  <a:srgbClr val="028090"/>
                </a:solidFill>
                <a:latin typeface="Calibri"/>
              </a:rPr>
              <a:t>Das Problem heute</a:t>
            </a:r>
            <a:endParaRPr lang="de-CH" sz="1300" b="0" strike="noStrike" spc="-1">
              <a:latin typeface="Arial"/>
            </a:endParaRPr>
          </a:p>
        </p:txBody>
      </p:sp>
      <p:sp>
        <p:nvSpPr>
          <p:cNvPr id="58" name="Rectangle 9"/>
          <p:cNvSpPr/>
          <p:nvPr/>
        </p:nvSpPr>
        <p:spPr>
          <a:xfrm>
            <a:off x="640080" y="5029200"/>
            <a:ext cx="3611520" cy="1371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Rectangle 10"/>
          <p:cNvSpPr/>
          <p:nvPr/>
        </p:nvSpPr>
        <p:spPr>
          <a:xfrm>
            <a:off x="640080" y="5029200"/>
            <a:ext cx="3611520" cy="5436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TextBox 11"/>
          <p:cNvSpPr/>
          <p:nvPr/>
        </p:nvSpPr>
        <p:spPr>
          <a:xfrm>
            <a:off x="868680" y="5212080"/>
            <a:ext cx="3245760" cy="26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500" b="1" strike="noStrike" spc="-1">
                <a:solidFill>
                  <a:srgbClr val="0F4C5C"/>
                </a:solidFill>
                <a:latin typeface="Calibri"/>
              </a:rPr>
              <a:t>Wissen verstreut</a:t>
            </a:r>
            <a:endParaRPr lang="de-CH" sz="1500" b="0" strike="noStrike" spc="-1">
              <a:latin typeface="Arial"/>
            </a:endParaRPr>
          </a:p>
        </p:txBody>
      </p:sp>
      <p:sp>
        <p:nvSpPr>
          <p:cNvPr id="61" name="TextBox 12"/>
          <p:cNvSpPr/>
          <p:nvPr/>
        </p:nvSpPr>
        <p:spPr>
          <a:xfrm>
            <a:off x="868680" y="5623560"/>
            <a:ext cx="324576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200" b="0" strike="noStrike" spc="-1">
                <a:solidFill>
                  <a:srgbClr val="6B7280"/>
                </a:solidFill>
                <a:latin typeface="Calibri"/>
              </a:rPr>
              <a:t>Confluence, Jira, Code, Protokolle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62" name="Rectangle 13"/>
          <p:cNvSpPr/>
          <p:nvPr/>
        </p:nvSpPr>
        <p:spPr>
          <a:xfrm>
            <a:off x="4389120" y="5029200"/>
            <a:ext cx="3611520" cy="1371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Rectangle 14"/>
          <p:cNvSpPr/>
          <p:nvPr/>
        </p:nvSpPr>
        <p:spPr>
          <a:xfrm>
            <a:off x="4389120" y="5029200"/>
            <a:ext cx="3611520" cy="5436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TextBox 15"/>
          <p:cNvSpPr/>
          <p:nvPr/>
        </p:nvSpPr>
        <p:spPr>
          <a:xfrm>
            <a:off x="4617720" y="5212080"/>
            <a:ext cx="3245760" cy="26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500" b="1" strike="noStrike" spc="-1">
                <a:solidFill>
                  <a:srgbClr val="0F4C5C"/>
                </a:solidFill>
                <a:latin typeface="Calibri"/>
              </a:rPr>
              <a:t>Doku veraltet</a:t>
            </a:r>
            <a:endParaRPr lang="de-CH" sz="1500" b="0" strike="noStrike" spc="-1">
              <a:latin typeface="Arial"/>
            </a:endParaRPr>
          </a:p>
        </p:txBody>
      </p:sp>
      <p:sp>
        <p:nvSpPr>
          <p:cNvPr id="65" name="TextBox 16"/>
          <p:cNvSpPr/>
          <p:nvPr/>
        </p:nvSpPr>
        <p:spPr>
          <a:xfrm>
            <a:off x="4617720" y="5623560"/>
            <a:ext cx="324576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200" b="0" strike="noStrike" spc="-1">
                <a:solidFill>
                  <a:srgbClr val="6B7280"/>
                </a:solidFill>
                <a:latin typeface="Calibri"/>
              </a:rPr>
              <a:t>Niemand weiß, ob Stand 2019 oder 2024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66" name="Rectangle 17"/>
          <p:cNvSpPr/>
          <p:nvPr/>
        </p:nvSpPr>
        <p:spPr>
          <a:xfrm>
            <a:off x="8138160" y="5029200"/>
            <a:ext cx="3611520" cy="1371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Rectangle 18"/>
          <p:cNvSpPr/>
          <p:nvPr/>
        </p:nvSpPr>
        <p:spPr>
          <a:xfrm>
            <a:off x="8138160" y="5029200"/>
            <a:ext cx="3611520" cy="5436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TextBox 19"/>
          <p:cNvSpPr/>
          <p:nvPr/>
        </p:nvSpPr>
        <p:spPr>
          <a:xfrm>
            <a:off x="8366760" y="5212080"/>
            <a:ext cx="3245760" cy="26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500" b="1" strike="noStrike" spc="-1">
                <a:solidFill>
                  <a:srgbClr val="0F4C5C"/>
                </a:solidFill>
                <a:latin typeface="Calibri"/>
              </a:rPr>
              <a:t>Kollegen unterbrochen</a:t>
            </a:r>
            <a:endParaRPr lang="de-CH" sz="1500" b="0" strike="noStrike" spc="-1">
              <a:latin typeface="Arial"/>
            </a:endParaRPr>
          </a:p>
        </p:txBody>
      </p:sp>
      <p:sp>
        <p:nvSpPr>
          <p:cNvPr id="69" name="TextBox 20"/>
          <p:cNvSpPr/>
          <p:nvPr/>
        </p:nvSpPr>
        <p:spPr>
          <a:xfrm>
            <a:off x="8366760" y="5623560"/>
            <a:ext cx="324576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200" b="0" strike="noStrike" spc="-1">
                <a:solidFill>
                  <a:srgbClr val="6B7280"/>
                </a:solidFill>
                <a:latin typeface="Calibri"/>
              </a:rPr>
              <a:t>Senior-Devs werden täglich gefragt</a:t>
            </a:r>
            <a:endParaRPr lang="de-CH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9F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TextBox 2"/>
          <p:cNvSpPr/>
          <p:nvPr/>
        </p:nvSpPr>
        <p:spPr>
          <a:xfrm>
            <a:off x="640080" y="502920"/>
            <a:ext cx="1097244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100" b="1" strike="noStrike" spc="-1">
                <a:solidFill>
                  <a:srgbClr val="028090"/>
                </a:solidFill>
                <a:latin typeface="Calibri"/>
              </a:rPr>
              <a:t>02 · WAS WIR IM MVP BAUEN</a:t>
            </a:r>
            <a:endParaRPr lang="de-CH" sz="1100" b="0" strike="noStrike" spc="-1"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640080" y="777240"/>
            <a:ext cx="1097244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3200" b="1" strike="noStrike" spc="-1">
                <a:solidFill>
                  <a:srgbClr val="0F4C5C"/>
                </a:solidFill>
                <a:latin typeface="Calibri"/>
              </a:rPr>
              <a:t>Drei Must-have-Stories</a:t>
            </a:r>
            <a:endParaRPr lang="de-CH" sz="3200" b="0" strike="noStrike" spc="-1">
              <a:latin typeface="Arial"/>
            </a:endParaRPr>
          </a:p>
        </p:txBody>
      </p:sp>
      <p:sp>
        <p:nvSpPr>
          <p:cNvPr id="73" name="Rectangle 4"/>
          <p:cNvSpPr/>
          <p:nvPr/>
        </p:nvSpPr>
        <p:spPr>
          <a:xfrm>
            <a:off x="640080" y="1627560"/>
            <a:ext cx="548280" cy="4536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Rectangle 5"/>
          <p:cNvSpPr/>
          <p:nvPr/>
        </p:nvSpPr>
        <p:spPr>
          <a:xfrm>
            <a:off x="640080" y="2011680"/>
            <a:ext cx="3657240" cy="429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Rectangle 6"/>
          <p:cNvSpPr/>
          <p:nvPr/>
        </p:nvSpPr>
        <p:spPr>
          <a:xfrm>
            <a:off x="640080" y="2011680"/>
            <a:ext cx="3657240" cy="45684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Oval 7"/>
          <p:cNvSpPr/>
          <p:nvPr/>
        </p:nvSpPr>
        <p:spPr>
          <a:xfrm>
            <a:off x="822960" y="2075760"/>
            <a:ext cx="328680" cy="32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TextBox 8"/>
          <p:cNvSpPr/>
          <p:nvPr/>
        </p:nvSpPr>
        <p:spPr>
          <a:xfrm>
            <a:off x="822960" y="2117160"/>
            <a:ext cx="32868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400" b="1" strike="noStrike" spc="-1">
                <a:solidFill>
                  <a:srgbClr val="00A896"/>
                </a:solidFill>
                <a:latin typeface="Calibri"/>
              </a:rPr>
              <a:t>1</a:t>
            </a:r>
            <a:endParaRPr lang="de-CH" sz="1400" b="0" strike="noStrike" spc="-1">
              <a:latin typeface="Arial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3429000" y="2121480"/>
            <a:ext cx="731160" cy="17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</a:rPr>
              <a:t>MUST</a:t>
            </a:r>
            <a:endParaRPr lang="de-CH" sz="1000" b="0" strike="noStrike" spc="-1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914400" y="2697480"/>
            <a:ext cx="3108600" cy="65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2000" b="1" strike="noStrike" spc="-1">
                <a:solidFill>
                  <a:srgbClr val="0F4C5C"/>
                </a:solidFill>
                <a:latin typeface="Calibri"/>
              </a:rPr>
              <a:t>Quellenbelegte</a:t>
            </a:r>
            <a:endParaRPr lang="de-CH" sz="2000" b="0" strike="noStrike" spc="-1"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2000" b="1" strike="noStrike" spc="-1">
                <a:solidFill>
                  <a:srgbClr val="0F4C5C"/>
                </a:solidFill>
                <a:latin typeface="Calibri"/>
              </a:rPr>
              <a:t>Antworten</a:t>
            </a:r>
            <a:endParaRPr lang="de-CH" sz="2000" b="0" strike="noStrike" spc="-1">
              <a:latin typeface="Arial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914400" y="4114800"/>
            <a:ext cx="3108600" cy="53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lang="en-US" sz="1300" b="0" strike="noStrike" spc="-1">
                <a:solidFill>
                  <a:srgbClr val="1F2937"/>
                </a:solidFill>
                <a:latin typeface="Calibri"/>
              </a:rPr>
              <a:t>Lara stellt eine Frage und bekommt eine Antwort mit klickbarem Quellenverweis.</a:t>
            </a:r>
            <a:endParaRPr lang="de-CH" sz="1300" b="0" strike="noStrike" spc="-1">
              <a:latin typeface="Arial"/>
            </a:endParaRPr>
          </a:p>
        </p:txBody>
      </p:sp>
      <p:sp>
        <p:nvSpPr>
          <p:cNvPr id="81" name="Rectangle 12"/>
          <p:cNvSpPr/>
          <p:nvPr/>
        </p:nvSpPr>
        <p:spPr>
          <a:xfrm>
            <a:off x="914400" y="5806440"/>
            <a:ext cx="3108600" cy="18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TextBox 13"/>
          <p:cNvSpPr/>
          <p:nvPr/>
        </p:nvSpPr>
        <p:spPr>
          <a:xfrm>
            <a:off x="914400" y="5897880"/>
            <a:ext cx="3108600" cy="17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000" b="1" strike="noStrike" spc="-1">
                <a:solidFill>
                  <a:srgbClr val="6B7280"/>
                </a:solidFill>
                <a:latin typeface="Calibri"/>
              </a:rPr>
              <a:t>Persona: Lara · Junior Dev</a:t>
            </a:r>
            <a:endParaRPr lang="de-CH" sz="1000" b="0" strike="noStrike" spc="-1">
              <a:latin typeface="Arial"/>
            </a:endParaRPr>
          </a:p>
        </p:txBody>
      </p:sp>
      <p:sp>
        <p:nvSpPr>
          <p:cNvPr id="83" name="Rectangle 14"/>
          <p:cNvSpPr/>
          <p:nvPr/>
        </p:nvSpPr>
        <p:spPr>
          <a:xfrm>
            <a:off x="4416480" y="2011680"/>
            <a:ext cx="3657240" cy="429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Rectangle 15"/>
          <p:cNvSpPr/>
          <p:nvPr/>
        </p:nvSpPr>
        <p:spPr>
          <a:xfrm>
            <a:off x="4416480" y="2011680"/>
            <a:ext cx="3657240" cy="4568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Oval 16"/>
          <p:cNvSpPr/>
          <p:nvPr/>
        </p:nvSpPr>
        <p:spPr>
          <a:xfrm>
            <a:off x="4599360" y="2075760"/>
            <a:ext cx="328680" cy="32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TextBox 17"/>
          <p:cNvSpPr/>
          <p:nvPr/>
        </p:nvSpPr>
        <p:spPr>
          <a:xfrm>
            <a:off x="4599360" y="2117160"/>
            <a:ext cx="32868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400" b="1" strike="noStrike" spc="-1">
                <a:solidFill>
                  <a:srgbClr val="028090"/>
                </a:solidFill>
                <a:latin typeface="Calibri"/>
              </a:rPr>
              <a:t>2</a:t>
            </a:r>
            <a:endParaRPr lang="de-CH" sz="1400" b="0" strike="noStrike" spc="-1">
              <a:latin typeface="Arial"/>
            </a:endParaRPr>
          </a:p>
        </p:txBody>
      </p:sp>
      <p:sp>
        <p:nvSpPr>
          <p:cNvPr id="87" name="TextBox 18"/>
          <p:cNvSpPr/>
          <p:nvPr/>
        </p:nvSpPr>
        <p:spPr>
          <a:xfrm>
            <a:off x="7205400" y="2121480"/>
            <a:ext cx="731160" cy="17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</a:rPr>
              <a:t>MUST</a:t>
            </a:r>
            <a:endParaRPr lang="de-CH" sz="1000" b="0" strike="noStrike" spc="-1">
              <a:latin typeface="Arial"/>
            </a:endParaRPr>
          </a:p>
        </p:txBody>
      </p:sp>
      <p:sp>
        <p:nvSpPr>
          <p:cNvPr id="88" name="TextBox 19"/>
          <p:cNvSpPr/>
          <p:nvPr/>
        </p:nvSpPr>
        <p:spPr>
          <a:xfrm>
            <a:off x="4690800" y="2697480"/>
            <a:ext cx="3108600" cy="65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2000" b="1" strike="noStrike" spc="-1">
                <a:solidFill>
                  <a:srgbClr val="0F4C5C"/>
                </a:solidFill>
                <a:latin typeface="Calibri"/>
              </a:rPr>
              <a:t>Unsichere Antworten</a:t>
            </a:r>
            <a:endParaRPr lang="de-CH" sz="2000" b="0" strike="noStrike" spc="-1"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2000" b="1" strike="noStrike" spc="-1">
                <a:solidFill>
                  <a:srgbClr val="0F4C5C"/>
                </a:solidFill>
                <a:latin typeface="Calibri"/>
              </a:rPr>
              <a:t>klar markieren</a:t>
            </a:r>
            <a:endParaRPr lang="de-CH" sz="2000" b="0" strike="noStrike" spc="-1">
              <a:latin typeface="Arial"/>
            </a:endParaRPr>
          </a:p>
        </p:txBody>
      </p:sp>
      <p:sp>
        <p:nvSpPr>
          <p:cNvPr id="89" name="TextBox 20"/>
          <p:cNvSpPr/>
          <p:nvPr/>
        </p:nvSpPr>
        <p:spPr>
          <a:xfrm>
            <a:off x="4690800" y="4114800"/>
            <a:ext cx="3108600" cy="53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lang="en-US" sz="1300" b="0" strike="noStrike" spc="-1">
                <a:solidFill>
                  <a:srgbClr val="1F2937"/>
                </a:solidFill>
                <a:latin typeface="Calibri"/>
              </a:rPr>
              <a:t>Bei niedriger Konfidenz sagt das System 'Weiß ich nicht' statt zu raten.</a:t>
            </a:r>
            <a:endParaRPr lang="de-CH" sz="1300" b="0" strike="noStrike" spc="-1">
              <a:latin typeface="Arial"/>
            </a:endParaRPr>
          </a:p>
        </p:txBody>
      </p:sp>
      <p:sp>
        <p:nvSpPr>
          <p:cNvPr id="90" name="Rectangle 21"/>
          <p:cNvSpPr/>
          <p:nvPr/>
        </p:nvSpPr>
        <p:spPr>
          <a:xfrm>
            <a:off x="4690800" y="5806440"/>
            <a:ext cx="3108600" cy="18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TextBox 22"/>
          <p:cNvSpPr/>
          <p:nvPr/>
        </p:nvSpPr>
        <p:spPr>
          <a:xfrm>
            <a:off x="4690800" y="5897880"/>
            <a:ext cx="3108600" cy="17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000" b="1" strike="noStrike" spc="-1">
                <a:solidFill>
                  <a:srgbClr val="6B7280"/>
                </a:solidFill>
                <a:latin typeface="Calibri"/>
              </a:rPr>
              <a:t>Persona: Lara · Junior Dev</a:t>
            </a:r>
            <a:endParaRPr lang="de-CH" sz="1000" b="0" strike="noStrike" spc="-1">
              <a:latin typeface="Arial"/>
            </a:endParaRPr>
          </a:p>
        </p:txBody>
      </p:sp>
      <p:sp>
        <p:nvSpPr>
          <p:cNvPr id="92" name="Rectangle 23"/>
          <p:cNvSpPr/>
          <p:nvPr/>
        </p:nvSpPr>
        <p:spPr>
          <a:xfrm>
            <a:off x="8192880" y="2011680"/>
            <a:ext cx="3657240" cy="429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Rectangle 24"/>
          <p:cNvSpPr/>
          <p:nvPr/>
        </p:nvSpPr>
        <p:spPr>
          <a:xfrm>
            <a:off x="8192880" y="2011680"/>
            <a:ext cx="3657240" cy="456840"/>
          </a:xfrm>
          <a:prstGeom prst="rect">
            <a:avLst/>
          </a:prstGeom>
          <a:solidFill>
            <a:srgbClr val="0F4C5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Oval 25"/>
          <p:cNvSpPr/>
          <p:nvPr/>
        </p:nvSpPr>
        <p:spPr>
          <a:xfrm>
            <a:off x="8375760" y="2075760"/>
            <a:ext cx="328680" cy="32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5" name="TextBox 26"/>
          <p:cNvSpPr/>
          <p:nvPr/>
        </p:nvSpPr>
        <p:spPr>
          <a:xfrm>
            <a:off x="8375760" y="2117160"/>
            <a:ext cx="32868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400" b="1" strike="noStrike" spc="-1">
                <a:solidFill>
                  <a:srgbClr val="0F4C5C"/>
                </a:solidFill>
                <a:latin typeface="Calibri"/>
              </a:rPr>
              <a:t>3</a:t>
            </a:r>
            <a:endParaRPr lang="de-CH" sz="1400" b="0" strike="noStrike" spc="-1">
              <a:latin typeface="Arial"/>
            </a:endParaRPr>
          </a:p>
        </p:txBody>
      </p:sp>
      <p:sp>
        <p:nvSpPr>
          <p:cNvPr id="96" name="TextBox 27"/>
          <p:cNvSpPr/>
          <p:nvPr/>
        </p:nvSpPr>
        <p:spPr>
          <a:xfrm>
            <a:off x="10981800" y="2121480"/>
            <a:ext cx="731160" cy="17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</a:rPr>
              <a:t>MUST</a:t>
            </a:r>
            <a:endParaRPr lang="de-CH" sz="1000" b="0" strike="noStrike" spc="-1">
              <a:latin typeface="Arial"/>
            </a:endParaRPr>
          </a:p>
        </p:txBody>
      </p:sp>
      <p:sp>
        <p:nvSpPr>
          <p:cNvPr id="97" name="TextBox 28"/>
          <p:cNvSpPr/>
          <p:nvPr/>
        </p:nvSpPr>
        <p:spPr>
          <a:xfrm>
            <a:off x="8467200" y="2697480"/>
            <a:ext cx="3108600" cy="65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2000" b="1" strike="noStrike" spc="-1">
                <a:solidFill>
                  <a:srgbClr val="0F4C5C"/>
                </a:solidFill>
                <a:latin typeface="Calibri"/>
              </a:rPr>
              <a:t>Korpus pflegen</a:t>
            </a:r>
            <a:endParaRPr lang="de-CH" sz="2000" b="0" strike="noStrike" spc="-1"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2000" b="1" strike="noStrike" spc="-1">
                <a:solidFill>
                  <a:srgbClr val="0F4C5C"/>
                </a:solidFill>
                <a:latin typeface="Calibri"/>
              </a:rPr>
              <a:t>&amp; freigeben</a:t>
            </a:r>
            <a:endParaRPr lang="de-CH" sz="2000" b="0" strike="noStrike" spc="-1">
              <a:latin typeface="Arial"/>
            </a:endParaRPr>
          </a:p>
        </p:txBody>
      </p:sp>
      <p:sp>
        <p:nvSpPr>
          <p:cNvPr id="98" name="TextBox 29"/>
          <p:cNvSpPr/>
          <p:nvPr/>
        </p:nvSpPr>
        <p:spPr>
          <a:xfrm>
            <a:off x="8467200" y="4114800"/>
            <a:ext cx="3108600" cy="53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lang="en-US" sz="1300" b="0" strike="noStrike" spc="-1">
                <a:solidFill>
                  <a:srgbClr val="1F2937"/>
                </a:solidFill>
                <a:latin typeface="Calibri"/>
              </a:rPr>
              <a:t>Stefan lädt Inhalte hoch, gibt sie für seinen Bereich frei, behält Kontrolle.</a:t>
            </a:r>
            <a:endParaRPr lang="de-CH" sz="1300" b="0" strike="noStrike" spc="-1">
              <a:latin typeface="Arial"/>
            </a:endParaRPr>
          </a:p>
        </p:txBody>
      </p:sp>
      <p:sp>
        <p:nvSpPr>
          <p:cNvPr id="99" name="Rectangle 30"/>
          <p:cNvSpPr/>
          <p:nvPr/>
        </p:nvSpPr>
        <p:spPr>
          <a:xfrm>
            <a:off x="8467200" y="5806440"/>
            <a:ext cx="3108600" cy="18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TextBox 31"/>
          <p:cNvSpPr/>
          <p:nvPr/>
        </p:nvSpPr>
        <p:spPr>
          <a:xfrm>
            <a:off x="8467200" y="5897880"/>
            <a:ext cx="3108600" cy="17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000" b="1" strike="noStrike" spc="-1">
                <a:solidFill>
                  <a:srgbClr val="6B7280"/>
                </a:solidFill>
                <a:latin typeface="Calibri"/>
              </a:rPr>
              <a:t>Persona: Stefan · Bereichsverantwortlicher</a:t>
            </a:r>
            <a:endParaRPr lang="de-CH" sz="1000" b="0" strike="noStrike" spc="-1">
              <a:latin typeface="Arial"/>
            </a:endParaRPr>
          </a:p>
        </p:txBody>
      </p:sp>
      <p:sp>
        <p:nvSpPr>
          <p:cNvPr id="101" name="TextBox 32"/>
          <p:cNvSpPr/>
          <p:nvPr/>
        </p:nvSpPr>
        <p:spPr>
          <a:xfrm>
            <a:off x="640080" y="6446520"/>
            <a:ext cx="10972440" cy="17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000" b="0" strike="noStrike" spc="-1">
                <a:solidFill>
                  <a:srgbClr val="6B7280"/>
                </a:solidFill>
                <a:latin typeface="Calibri"/>
              </a:rPr>
              <a:t>Weitere 8 Stories im Backlog – Auth, Admin, Quiz-Freigabe, Stale-Content, Folgefragen u.a.</a:t>
            </a:r>
            <a:endParaRPr lang="de-CH" sz="1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9F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TextBox 2"/>
          <p:cNvSpPr/>
          <p:nvPr/>
        </p:nvSpPr>
        <p:spPr>
          <a:xfrm>
            <a:off x="640080" y="502920"/>
            <a:ext cx="1097244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100" b="1" strike="noStrike" spc="-1">
                <a:solidFill>
                  <a:srgbClr val="028090"/>
                </a:solidFill>
                <a:latin typeface="Calibri"/>
              </a:rPr>
              <a:t>04 · WO WIR KI KONKRET EINSETZEN</a:t>
            </a:r>
            <a:endParaRPr lang="de-CH" sz="1100" b="0" strike="noStrike" spc="-1"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640080" y="777240"/>
            <a:ext cx="1097244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3200" b="1" strike="noStrike" spc="-1">
                <a:solidFill>
                  <a:srgbClr val="0F4C5C"/>
                </a:solidFill>
                <a:latin typeface="Calibri"/>
              </a:rPr>
              <a:t>Vier KI-Komponenten im Stack</a:t>
            </a:r>
            <a:endParaRPr lang="de-CH" sz="3200" b="0" strike="noStrike" spc="-1">
              <a:latin typeface="Arial"/>
            </a:endParaRPr>
          </a:p>
        </p:txBody>
      </p:sp>
      <p:sp>
        <p:nvSpPr>
          <p:cNvPr id="135" name="Rectangle 4"/>
          <p:cNvSpPr/>
          <p:nvPr/>
        </p:nvSpPr>
        <p:spPr>
          <a:xfrm>
            <a:off x="640080" y="1627560"/>
            <a:ext cx="548280" cy="4536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Rectangle 5"/>
          <p:cNvSpPr/>
          <p:nvPr/>
        </p:nvSpPr>
        <p:spPr>
          <a:xfrm>
            <a:off x="640080" y="2011680"/>
            <a:ext cx="2697120" cy="3200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7" name="Rectangle 6"/>
          <p:cNvSpPr/>
          <p:nvPr/>
        </p:nvSpPr>
        <p:spPr>
          <a:xfrm>
            <a:off x="640080" y="2011680"/>
            <a:ext cx="2697120" cy="727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Oval 7"/>
          <p:cNvSpPr/>
          <p:nvPr/>
        </p:nvSpPr>
        <p:spPr>
          <a:xfrm>
            <a:off x="1623240" y="2423160"/>
            <a:ext cx="731160" cy="731160"/>
          </a:xfrm>
          <a:prstGeom prst="ellipse">
            <a:avLst/>
          </a:prstGeom>
          <a:solidFill>
            <a:srgbClr val="0F4C5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TextBox 8"/>
          <p:cNvSpPr/>
          <p:nvPr/>
        </p:nvSpPr>
        <p:spPr>
          <a:xfrm>
            <a:off x="1623240" y="2543040"/>
            <a:ext cx="731160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strike="noStrike" spc="-1">
                <a:solidFill>
                  <a:srgbClr val="00A896"/>
                </a:solidFill>
                <a:latin typeface="Calibri"/>
              </a:rPr>
              <a:t>1</a:t>
            </a:r>
            <a:endParaRPr lang="de-CH" sz="2800" b="0" strike="noStrike" spc="-1">
              <a:latin typeface="Arial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640080" y="3291840"/>
            <a:ext cx="2697120" cy="17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000" b="1" strike="noStrike" spc="-1">
                <a:solidFill>
                  <a:srgbClr val="00A896"/>
                </a:solidFill>
                <a:latin typeface="Calibri"/>
              </a:rPr>
              <a:t>RAG</a:t>
            </a:r>
            <a:endParaRPr lang="de-CH" sz="1000" b="0" strike="noStrike" spc="-1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822960" y="3703320"/>
            <a:ext cx="233136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 strike="noStrike" spc="-1">
                <a:solidFill>
                  <a:srgbClr val="0F4C5C"/>
                </a:solidFill>
                <a:latin typeface="Calibri"/>
              </a:rPr>
              <a:t>LLM für Antworten</a:t>
            </a:r>
            <a:endParaRPr lang="de-CH" sz="1600" b="0" strike="noStrike" spc="-1">
              <a:latin typeface="Arial"/>
            </a:endParaRPr>
          </a:p>
        </p:txBody>
      </p:sp>
      <p:sp>
        <p:nvSpPr>
          <p:cNvPr id="142" name="TextBox 11"/>
          <p:cNvSpPr/>
          <p:nvPr/>
        </p:nvSpPr>
        <p:spPr>
          <a:xfrm>
            <a:off x="822960" y="4297680"/>
            <a:ext cx="233136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200" b="0" strike="noStrike" spc="-1">
                <a:solidFill>
                  <a:srgbClr val="1F2937"/>
                </a:solidFill>
                <a:latin typeface="Calibri"/>
              </a:rPr>
              <a:t>Generiert die Antwort aus den per RAG abgerufenen Korpus-Inhalten.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143" name="Rectangle 12"/>
          <p:cNvSpPr/>
          <p:nvPr/>
        </p:nvSpPr>
        <p:spPr>
          <a:xfrm>
            <a:off x="3456360" y="2011680"/>
            <a:ext cx="2697120" cy="3200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Rectangle 13"/>
          <p:cNvSpPr/>
          <p:nvPr/>
        </p:nvSpPr>
        <p:spPr>
          <a:xfrm>
            <a:off x="3456360" y="2011680"/>
            <a:ext cx="2697120" cy="727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5" name="Oval 14"/>
          <p:cNvSpPr/>
          <p:nvPr/>
        </p:nvSpPr>
        <p:spPr>
          <a:xfrm>
            <a:off x="4439520" y="2423160"/>
            <a:ext cx="731160" cy="731160"/>
          </a:xfrm>
          <a:prstGeom prst="ellipse">
            <a:avLst/>
          </a:prstGeom>
          <a:solidFill>
            <a:srgbClr val="0F4C5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6" name="TextBox 15"/>
          <p:cNvSpPr/>
          <p:nvPr/>
        </p:nvSpPr>
        <p:spPr>
          <a:xfrm>
            <a:off x="4439520" y="2543040"/>
            <a:ext cx="731160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strike="noStrike" spc="-1">
                <a:solidFill>
                  <a:srgbClr val="00A896"/>
                </a:solidFill>
                <a:latin typeface="Calibri"/>
              </a:rPr>
              <a:t>2</a:t>
            </a:r>
            <a:endParaRPr lang="de-CH" sz="2800" b="0" strike="noStrike" spc="-1">
              <a:latin typeface="Arial"/>
            </a:endParaRPr>
          </a:p>
        </p:txBody>
      </p:sp>
      <p:sp>
        <p:nvSpPr>
          <p:cNvPr id="147" name="TextBox 16"/>
          <p:cNvSpPr/>
          <p:nvPr/>
        </p:nvSpPr>
        <p:spPr>
          <a:xfrm>
            <a:off x="3456360" y="3291840"/>
            <a:ext cx="2697120" cy="17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000" b="1" strike="noStrike" spc="-1">
                <a:solidFill>
                  <a:srgbClr val="00A896"/>
                </a:solidFill>
                <a:latin typeface="Calibri"/>
              </a:rPr>
              <a:t>VEKTOR</a:t>
            </a:r>
            <a:endParaRPr lang="de-CH" sz="1000" b="0" strike="noStrike" spc="-1">
              <a:latin typeface="Arial"/>
            </a:endParaRPr>
          </a:p>
        </p:txBody>
      </p:sp>
      <p:sp>
        <p:nvSpPr>
          <p:cNvPr id="148" name="TextBox 17"/>
          <p:cNvSpPr/>
          <p:nvPr/>
        </p:nvSpPr>
        <p:spPr>
          <a:xfrm>
            <a:off x="3639240" y="3703320"/>
            <a:ext cx="233136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 strike="noStrike" spc="-1">
                <a:solidFill>
                  <a:srgbClr val="0F4C5C"/>
                </a:solidFill>
                <a:latin typeface="Calibri"/>
              </a:rPr>
              <a:t>Embedding-Modell</a:t>
            </a:r>
            <a:endParaRPr lang="de-CH" sz="1600" b="0" strike="noStrike" spc="-1">
              <a:latin typeface="Arial"/>
            </a:endParaRPr>
          </a:p>
        </p:txBody>
      </p:sp>
      <p:sp>
        <p:nvSpPr>
          <p:cNvPr id="149" name="TextBox 18"/>
          <p:cNvSpPr/>
          <p:nvPr/>
        </p:nvSpPr>
        <p:spPr>
          <a:xfrm>
            <a:off x="3639240" y="4297680"/>
            <a:ext cx="233136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200" b="0" strike="noStrike" spc="-1">
                <a:solidFill>
                  <a:srgbClr val="1F2937"/>
                </a:solidFill>
                <a:latin typeface="Calibri"/>
              </a:rPr>
              <a:t>Semantisches Retrieval – findet relevante Passagen im Korpus.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150" name="Rectangle 19"/>
          <p:cNvSpPr/>
          <p:nvPr/>
        </p:nvSpPr>
        <p:spPr>
          <a:xfrm>
            <a:off x="6272640" y="2011680"/>
            <a:ext cx="2697120" cy="3200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1" name="Rectangle 20"/>
          <p:cNvSpPr/>
          <p:nvPr/>
        </p:nvSpPr>
        <p:spPr>
          <a:xfrm>
            <a:off x="6272640" y="2011680"/>
            <a:ext cx="2697120" cy="727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Oval 21"/>
          <p:cNvSpPr/>
          <p:nvPr/>
        </p:nvSpPr>
        <p:spPr>
          <a:xfrm>
            <a:off x="7255800" y="2423160"/>
            <a:ext cx="731160" cy="731160"/>
          </a:xfrm>
          <a:prstGeom prst="ellipse">
            <a:avLst/>
          </a:prstGeom>
          <a:solidFill>
            <a:srgbClr val="0F4C5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TextBox 22"/>
          <p:cNvSpPr/>
          <p:nvPr/>
        </p:nvSpPr>
        <p:spPr>
          <a:xfrm>
            <a:off x="7255800" y="2543040"/>
            <a:ext cx="731160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strike="noStrike" spc="-1">
                <a:solidFill>
                  <a:srgbClr val="00A896"/>
                </a:solidFill>
                <a:latin typeface="Calibri"/>
              </a:rPr>
              <a:t>3</a:t>
            </a:r>
            <a:endParaRPr lang="de-CH" sz="2800" b="0" strike="noStrike" spc="-1">
              <a:latin typeface="Arial"/>
            </a:endParaRPr>
          </a:p>
        </p:txBody>
      </p:sp>
      <p:sp>
        <p:nvSpPr>
          <p:cNvPr id="154" name="TextBox 23"/>
          <p:cNvSpPr/>
          <p:nvPr/>
        </p:nvSpPr>
        <p:spPr>
          <a:xfrm>
            <a:off x="6272640" y="3291840"/>
            <a:ext cx="2697120" cy="17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000" b="1" strike="noStrike" spc="-1">
                <a:solidFill>
                  <a:srgbClr val="00A896"/>
                </a:solidFill>
                <a:latin typeface="Calibri"/>
              </a:rPr>
              <a:t>TRUST</a:t>
            </a:r>
            <a:endParaRPr lang="de-CH" sz="1000" b="0" strike="noStrike" spc="-1">
              <a:latin typeface="Arial"/>
            </a:endParaRPr>
          </a:p>
        </p:txBody>
      </p:sp>
      <p:sp>
        <p:nvSpPr>
          <p:cNvPr id="155" name="TextBox 24"/>
          <p:cNvSpPr/>
          <p:nvPr/>
        </p:nvSpPr>
        <p:spPr>
          <a:xfrm>
            <a:off x="6455520" y="3703320"/>
            <a:ext cx="233136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 strike="noStrike" spc="-1">
                <a:solidFill>
                  <a:srgbClr val="0F4C5C"/>
                </a:solidFill>
                <a:latin typeface="Calibri"/>
              </a:rPr>
              <a:t>Self-Check</a:t>
            </a:r>
            <a:endParaRPr lang="de-CH" sz="1600" b="0" strike="noStrike" spc="-1">
              <a:latin typeface="Arial"/>
            </a:endParaRPr>
          </a:p>
        </p:txBody>
      </p:sp>
      <p:sp>
        <p:nvSpPr>
          <p:cNvPr id="156" name="TextBox 25"/>
          <p:cNvSpPr/>
          <p:nvPr/>
        </p:nvSpPr>
        <p:spPr>
          <a:xfrm>
            <a:off x="6455520" y="4297680"/>
            <a:ext cx="233136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200" b="0" strike="noStrike" spc="-1">
                <a:solidFill>
                  <a:srgbClr val="1F2937"/>
                </a:solidFill>
                <a:latin typeface="Calibri"/>
              </a:rPr>
              <a:t>LLM prüft die eigene Antwort gegen Quellen → Konfidenz-Signal.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157" name="Rectangle 26"/>
          <p:cNvSpPr/>
          <p:nvPr/>
        </p:nvSpPr>
        <p:spPr>
          <a:xfrm>
            <a:off x="9089280" y="2011680"/>
            <a:ext cx="2697120" cy="3200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Rectangle 27"/>
          <p:cNvSpPr/>
          <p:nvPr/>
        </p:nvSpPr>
        <p:spPr>
          <a:xfrm>
            <a:off x="9089280" y="2011680"/>
            <a:ext cx="2697120" cy="727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Oval 28"/>
          <p:cNvSpPr/>
          <p:nvPr/>
        </p:nvSpPr>
        <p:spPr>
          <a:xfrm>
            <a:off x="10072080" y="2423160"/>
            <a:ext cx="731160" cy="731160"/>
          </a:xfrm>
          <a:prstGeom prst="ellipse">
            <a:avLst/>
          </a:prstGeom>
          <a:solidFill>
            <a:srgbClr val="0F4C5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TextBox 29"/>
          <p:cNvSpPr/>
          <p:nvPr/>
        </p:nvSpPr>
        <p:spPr>
          <a:xfrm>
            <a:off x="10072080" y="2543040"/>
            <a:ext cx="731160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strike="noStrike" spc="-1">
                <a:solidFill>
                  <a:srgbClr val="00A896"/>
                </a:solidFill>
                <a:latin typeface="Calibri"/>
              </a:rPr>
              <a:t>4</a:t>
            </a:r>
            <a:endParaRPr lang="de-CH" sz="2800" b="0" strike="noStrike" spc="-1">
              <a:latin typeface="Arial"/>
            </a:endParaRPr>
          </a:p>
        </p:txBody>
      </p:sp>
      <p:sp>
        <p:nvSpPr>
          <p:cNvPr id="161" name="TextBox 30"/>
          <p:cNvSpPr/>
          <p:nvPr/>
        </p:nvSpPr>
        <p:spPr>
          <a:xfrm>
            <a:off x="9089280" y="3291840"/>
            <a:ext cx="2697120" cy="17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000" b="1" strike="noStrike" spc="-1">
                <a:solidFill>
                  <a:srgbClr val="00A896"/>
                </a:solidFill>
                <a:latin typeface="Calibri"/>
              </a:rPr>
              <a:t>LERNEN</a:t>
            </a:r>
            <a:endParaRPr lang="de-CH" sz="1000" b="0" strike="noStrike" spc="-1">
              <a:latin typeface="Arial"/>
            </a:endParaRPr>
          </a:p>
        </p:txBody>
      </p:sp>
      <p:sp>
        <p:nvSpPr>
          <p:cNvPr id="162" name="TextBox 31"/>
          <p:cNvSpPr/>
          <p:nvPr/>
        </p:nvSpPr>
        <p:spPr>
          <a:xfrm>
            <a:off x="9272160" y="3703320"/>
            <a:ext cx="233136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 strike="noStrike" spc="-1">
                <a:solidFill>
                  <a:srgbClr val="0F4C5C"/>
                </a:solidFill>
                <a:latin typeface="Calibri"/>
              </a:rPr>
              <a:t>Quiz-Generierung</a:t>
            </a:r>
            <a:endParaRPr lang="de-CH" sz="1600" b="0" strike="noStrike" spc="-1">
              <a:latin typeface="Arial"/>
            </a:endParaRPr>
          </a:p>
        </p:txBody>
      </p:sp>
      <p:sp>
        <p:nvSpPr>
          <p:cNvPr id="163" name="TextBox 32"/>
          <p:cNvSpPr/>
          <p:nvPr/>
        </p:nvSpPr>
        <p:spPr>
          <a:xfrm>
            <a:off x="9272160" y="4297680"/>
            <a:ext cx="233136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200" b="0" strike="noStrike" spc="-1">
                <a:solidFill>
                  <a:srgbClr val="1F2937"/>
                </a:solidFill>
                <a:latin typeface="Calibri"/>
              </a:rPr>
              <a:t>LLM erzeugt Multiple-Choice-Fragen, Stefan gibt sie frei.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164" name="Rectangle 33"/>
          <p:cNvSpPr/>
          <p:nvPr/>
        </p:nvSpPr>
        <p:spPr>
          <a:xfrm>
            <a:off x="640080" y="5532120"/>
            <a:ext cx="10972440" cy="868320"/>
          </a:xfrm>
          <a:prstGeom prst="rect">
            <a:avLst/>
          </a:prstGeom>
          <a:solidFill>
            <a:srgbClr val="0F4C5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TextBox 34"/>
          <p:cNvSpPr/>
          <p:nvPr/>
        </p:nvSpPr>
        <p:spPr>
          <a:xfrm>
            <a:off x="868680" y="5623560"/>
            <a:ext cx="10515240" cy="17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000" b="1" strike="noStrike" spc="-1">
                <a:solidFill>
                  <a:srgbClr val="00A896"/>
                </a:solidFill>
                <a:latin typeface="Calibri"/>
              </a:rPr>
              <a:t>BEWUSST KEINE KI EINGESETZT BEI</a:t>
            </a:r>
            <a:endParaRPr lang="de-CH" sz="1000" b="0" strike="noStrike" spc="-1">
              <a:latin typeface="Arial"/>
            </a:endParaRPr>
          </a:p>
        </p:txBody>
      </p:sp>
      <p:sp>
        <p:nvSpPr>
          <p:cNvPr id="166" name="TextBox 35"/>
          <p:cNvSpPr/>
          <p:nvPr/>
        </p:nvSpPr>
        <p:spPr>
          <a:xfrm>
            <a:off x="868680" y="5897880"/>
            <a:ext cx="10515240" cy="24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Authentifizierung  ·  Pflege-Workflow  ·  Bereichszuordnung  →  bleibt deterministisch und auditierbar.</a:t>
            </a:r>
            <a:endParaRPr lang="de-CH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9F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TextBox 2"/>
          <p:cNvSpPr/>
          <p:nvPr/>
        </p:nvSpPr>
        <p:spPr>
          <a:xfrm>
            <a:off x="640080" y="502920"/>
            <a:ext cx="1097244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100" b="1" strike="noStrike" spc="-1">
                <a:solidFill>
                  <a:srgbClr val="028090"/>
                </a:solidFill>
                <a:latin typeface="Calibri"/>
              </a:rPr>
              <a:t>03 · GRÖSSTES RISIKO UND UNSER PLAN B</a:t>
            </a:r>
            <a:endParaRPr lang="de-CH" sz="1100" b="0" strike="noStrike" spc="-1"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640080" y="777240"/>
            <a:ext cx="1097244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3200" b="1" strike="noStrike" spc="-1">
                <a:solidFill>
                  <a:srgbClr val="0F4C5C"/>
                </a:solidFill>
                <a:latin typeface="Calibri"/>
              </a:rPr>
              <a:t>Was uns scheitern lassen kann</a:t>
            </a:r>
            <a:endParaRPr lang="de-CH" sz="3200" b="0" strike="noStrike" spc="-1">
              <a:latin typeface="Arial"/>
            </a:endParaRPr>
          </a:p>
        </p:txBody>
      </p:sp>
      <p:sp>
        <p:nvSpPr>
          <p:cNvPr id="105" name="Rectangle 4"/>
          <p:cNvSpPr/>
          <p:nvPr/>
        </p:nvSpPr>
        <p:spPr>
          <a:xfrm>
            <a:off x="640080" y="1627560"/>
            <a:ext cx="548280" cy="4536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Rectangle 5"/>
          <p:cNvSpPr/>
          <p:nvPr/>
        </p:nvSpPr>
        <p:spPr>
          <a:xfrm>
            <a:off x="640080" y="2011680"/>
            <a:ext cx="5120280" cy="420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Rectangle 6"/>
          <p:cNvSpPr/>
          <p:nvPr/>
        </p:nvSpPr>
        <p:spPr>
          <a:xfrm>
            <a:off x="640080" y="2011680"/>
            <a:ext cx="109440" cy="420588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Rounded Rectangle 7"/>
          <p:cNvSpPr/>
          <p:nvPr/>
        </p:nvSpPr>
        <p:spPr>
          <a:xfrm>
            <a:off x="868680" y="2194560"/>
            <a:ext cx="1371240" cy="292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0" rIns="4572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</a:rPr>
              <a:t>DAS RISIKO</a:t>
            </a:r>
            <a:endParaRPr lang="de-CH" sz="1000" b="0" strike="noStrike" spc="-1">
              <a:latin typeface="Arial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868680" y="2697480"/>
            <a:ext cx="4754520" cy="52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3000" b="1" strike="noStrike" spc="-1">
                <a:solidFill>
                  <a:srgbClr val="0F4C5C"/>
                </a:solidFill>
                <a:latin typeface="Calibri"/>
              </a:rPr>
              <a:t>Content Rot</a:t>
            </a:r>
            <a:endParaRPr lang="de-CH" sz="3000" b="0" strike="noStrike" spc="-1"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868680" y="3520440"/>
            <a:ext cx="4754520" cy="8458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lang="en-US" sz="1400" spc="-1">
                <a:solidFill>
                  <a:srgbClr val="1F2937"/>
                </a:solidFill>
                <a:latin typeface="Calibri"/>
              </a:rPr>
              <a:t>Die 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Plattform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stirbt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 an 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veralteten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Inhalten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 – 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weil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 die 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Pflege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außerhalb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unseres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 Projekt-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Einflussbereichs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liegt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. Eine 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falsche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Antwort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, das 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Vertrauen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ist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400" spc="-1" err="1">
                <a:solidFill>
                  <a:srgbClr val="1F2937"/>
                </a:solidFill>
                <a:latin typeface="Calibri"/>
              </a:rPr>
              <a:t>weg</a:t>
            </a:r>
            <a:r>
              <a:rPr lang="en-US" sz="1400" spc="-1">
                <a:solidFill>
                  <a:srgbClr val="1F2937"/>
                </a:solidFill>
                <a:latin typeface="Calibri"/>
              </a:rPr>
              <a:t>.</a:t>
            </a:r>
            <a:endParaRPr lang="de-CH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868680" y="5715000"/>
            <a:ext cx="475452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100" b="1" strike="noStrike" spc="-1">
                <a:solidFill>
                  <a:srgbClr val="F59E0B"/>
                </a:solidFill>
                <a:latin typeface="Calibri"/>
              </a:rPr>
              <a:t>Wahrscheinlichkeit: HOCH    ·    Schaden: TOTALVERLUST</a:t>
            </a:r>
            <a:endParaRPr lang="de-CH" sz="1100" b="0" strike="noStrike" spc="-1">
              <a:latin typeface="Arial"/>
            </a:endParaRPr>
          </a:p>
        </p:txBody>
      </p:sp>
      <p:sp>
        <p:nvSpPr>
          <p:cNvPr id="112" name="Rectangle 11"/>
          <p:cNvSpPr/>
          <p:nvPr/>
        </p:nvSpPr>
        <p:spPr>
          <a:xfrm>
            <a:off x="5989320" y="2011680"/>
            <a:ext cx="5577480" cy="420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Rectangle 12"/>
          <p:cNvSpPr/>
          <p:nvPr/>
        </p:nvSpPr>
        <p:spPr>
          <a:xfrm>
            <a:off x="5989320" y="2011680"/>
            <a:ext cx="109440" cy="420588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4" name="Rounded Rectangle 13"/>
          <p:cNvSpPr/>
          <p:nvPr/>
        </p:nvSpPr>
        <p:spPr>
          <a:xfrm>
            <a:off x="6217920" y="2194560"/>
            <a:ext cx="1371240" cy="29232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0" rIns="4572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1" strike="noStrike" spc="-1">
                <a:solidFill>
                  <a:srgbClr val="0F4C5C"/>
                </a:solidFill>
                <a:latin typeface="Calibri"/>
              </a:rPr>
              <a:t>UNSER PLAN</a:t>
            </a:r>
            <a:endParaRPr lang="de-CH" sz="1000" b="0" strike="noStrike" spc="-1">
              <a:latin typeface="Arial"/>
            </a:endParaRPr>
          </a:p>
        </p:txBody>
      </p:sp>
      <p:sp>
        <p:nvSpPr>
          <p:cNvPr id="115" name="TextBox 14"/>
          <p:cNvSpPr/>
          <p:nvPr/>
        </p:nvSpPr>
        <p:spPr>
          <a:xfrm>
            <a:off x="6217920" y="2697480"/>
            <a:ext cx="5211720" cy="38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200" b="1" strike="noStrike" spc="-1">
                <a:solidFill>
                  <a:srgbClr val="0F4C5C"/>
                </a:solidFill>
                <a:latin typeface="Calibri"/>
              </a:rPr>
              <a:t>Vier Maßnahmen</a:t>
            </a:r>
            <a:endParaRPr lang="de-CH" sz="2200" b="0" strike="noStrike" spc="-1">
              <a:latin typeface="Arial"/>
            </a:endParaRPr>
          </a:p>
        </p:txBody>
      </p:sp>
      <p:sp>
        <p:nvSpPr>
          <p:cNvPr id="116" name="Oval 15"/>
          <p:cNvSpPr/>
          <p:nvPr/>
        </p:nvSpPr>
        <p:spPr>
          <a:xfrm>
            <a:off x="6263640" y="3429000"/>
            <a:ext cx="255600" cy="25560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TextBox 16"/>
          <p:cNvSpPr/>
          <p:nvPr/>
        </p:nvSpPr>
        <p:spPr>
          <a:xfrm>
            <a:off x="6263640" y="3451320"/>
            <a:ext cx="255600" cy="21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 strike="noStrike" spc="-1">
                <a:solidFill>
                  <a:srgbClr val="0F4C5C"/>
                </a:solidFill>
                <a:latin typeface="Calibri"/>
              </a:rPr>
              <a:t>1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118" name="TextBox 17"/>
          <p:cNvSpPr/>
          <p:nvPr/>
        </p:nvSpPr>
        <p:spPr>
          <a:xfrm>
            <a:off x="6629400" y="3383280"/>
            <a:ext cx="48459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00" b="1" strike="noStrike" spc="-1">
                <a:solidFill>
                  <a:srgbClr val="0F4C5C"/>
                </a:solidFill>
                <a:latin typeface="Calibri"/>
              </a:rPr>
              <a:t>Pflege-Vereinbarung</a:t>
            </a:r>
            <a:endParaRPr lang="de-CH" sz="1300" b="0" strike="noStrike" spc="-1">
              <a:latin typeface="Arial"/>
            </a:endParaRPr>
          </a:p>
        </p:txBody>
      </p:sp>
      <p:sp>
        <p:nvSpPr>
          <p:cNvPr id="119" name="TextBox 18"/>
          <p:cNvSpPr/>
          <p:nvPr/>
        </p:nvSpPr>
        <p:spPr>
          <a:xfrm>
            <a:off x="6629400" y="3675960"/>
            <a:ext cx="484596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100" b="0" strike="noStrike" spc="-1">
                <a:solidFill>
                  <a:srgbClr val="1F2937"/>
                </a:solidFill>
                <a:latin typeface="Calibri"/>
              </a:rPr>
              <a:t>Bereichsverantwortliche:r ernannt + ~2 h/Monat zugesagt – schriftlich, vor Aufnahme.</a:t>
            </a:r>
            <a:endParaRPr lang="de-CH" sz="1100" b="0" strike="noStrike" spc="-1">
              <a:latin typeface="Arial"/>
            </a:endParaRPr>
          </a:p>
        </p:txBody>
      </p:sp>
      <p:sp>
        <p:nvSpPr>
          <p:cNvPr id="120" name="Oval 19"/>
          <p:cNvSpPr/>
          <p:nvPr/>
        </p:nvSpPr>
        <p:spPr>
          <a:xfrm>
            <a:off x="6263640" y="4142160"/>
            <a:ext cx="255600" cy="25560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TextBox 20"/>
          <p:cNvSpPr/>
          <p:nvPr/>
        </p:nvSpPr>
        <p:spPr>
          <a:xfrm>
            <a:off x="6263640" y="4164480"/>
            <a:ext cx="255600" cy="21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 strike="noStrike" spc="-1">
                <a:solidFill>
                  <a:srgbClr val="0F4C5C"/>
                </a:solidFill>
                <a:latin typeface="Calibri"/>
              </a:rPr>
              <a:t>2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122" name="TextBox 21"/>
          <p:cNvSpPr/>
          <p:nvPr/>
        </p:nvSpPr>
        <p:spPr>
          <a:xfrm>
            <a:off x="6629400" y="4096440"/>
            <a:ext cx="48459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00" b="1" strike="noStrike" spc="-1">
                <a:solidFill>
                  <a:srgbClr val="0F4C5C"/>
                </a:solidFill>
                <a:latin typeface="Calibri"/>
              </a:rPr>
              <a:t>Stale-Content-Report</a:t>
            </a:r>
            <a:endParaRPr lang="de-CH" sz="1300" b="0" strike="noStrike" spc="-1">
              <a:latin typeface="Arial"/>
            </a:endParaRPr>
          </a:p>
        </p:txBody>
      </p:sp>
      <p:sp>
        <p:nvSpPr>
          <p:cNvPr id="123" name="TextBox 22"/>
          <p:cNvSpPr/>
          <p:nvPr/>
        </p:nvSpPr>
        <p:spPr>
          <a:xfrm>
            <a:off x="6629400" y="4389120"/>
            <a:ext cx="4845960" cy="20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100" b="0" strike="noStrike" spc="-1">
                <a:solidFill>
                  <a:srgbClr val="1F2937"/>
                </a:solidFill>
                <a:latin typeface="Calibri"/>
              </a:rPr>
              <a:t>Monatlich automatisch – veraltete Inhalte werden sichtbar gemacht.</a:t>
            </a:r>
            <a:endParaRPr lang="de-CH" sz="1100" b="0" strike="noStrike" spc="-1">
              <a:latin typeface="Arial"/>
            </a:endParaRPr>
          </a:p>
        </p:txBody>
      </p:sp>
      <p:sp>
        <p:nvSpPr>
          <p:cNvPr id="124" name="Oval 23"/>
          <p:cNvSpPr/>
          <p:nvPr/>
        </p:nvSpPr>
        <p:spPr>
          <a:xfrm>
            <a:off x="6263640" y="4855320"/>
            <a:ext cx="255600" cy="25560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TextBox 24"/>
          <p:cNvSpPr/>
          <p:nvPr/>
        </p:nvSpPr>
        <p:spPr>
          <a:xfrm>
            <a:off x="6263640" y="4877640"/>
            <a:ext cx="255600" cy="21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 strike="noStrike" spc="-1">
                <a:solidFill>
                  <a:srgbClr val="0F4C5C"/>
                </a:solidFill>
                <a:latin typeface="Calibri"/>
              </a:rPr>
              <a:t>3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126" name="TextBox 25"/>
          <p:cNvSpPr/>
          <p:nvPr/>
        </p:nvSpPr>
        <p:spPr>
          <a:xfrm>
            <a:off x="6629400" y="4809600"/>
            <a:ext cx="48459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00" b="1" strike="noStrike" spc="-1">
                <a:solidFill>
                  <a:srgbClr val="0F4C5C"/>
                </a:solidFill>
                <a:latin typeface="Calibri"/>
              </a:rPr>
              <a:t>Validierungsdatum</a:t>
            </a:r>
            <a:endParaRPr lang="de-CH" sz="1300" b="0" strike="noStrike" spc="-1">
              <a:latin typeface="Arial"/>
            </a:endParaRPr>
          </a:p>
        </p:txBody>
      </p:sp>
      <p:sp>
        <p:nvSpPr>
          <p:cNvPr id="127" name="TextBox 26"/>
          <p:cNvSpPr/>
          <p:nvPr/>
        </p:nvSpPr>
        <p:spPr>
          <a:xfrm>
            <a:off x="6629400" y="5102280"/>
            <a:ext cx="4845960" cy="20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100" b="0" strike="noStrike" spc="-1">
                <a:solidFill>
                  <a:srgbClr val="1F2937"/>
                </a:solidFill>
                <a:latin typeface="Calibri"/>
              </a:rPr>
              <a:t>Sichtbar an jeder Antwort – Lara kann selbst einschätzen, wie frisch das ist.</a:t>
            </a:r>
            <a:endParaRPr lang="de-CH" sz="1100" b="0" strike="noStrike" spc="-1">
              <a:latin typeface="Arial"/>
            </a:endParaRPr>
          </a:p>
        </p:txBody>
      </p:sp>
      <p:sp>
        <p:nvSpPr>
          <p:cNvPr id="128" name="Oval 27"/>
          <p:cNvSpPr/>
          <p:nvPr/>
        </p:nvSpPr>
        <p:spPr>
          <a:xfrm>
            <a:off x="6263640" y="5568840"/>
            <a:ext cx="255600" cy="25560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TextBox 28"/>
          <p:cNvSpPr/>
          <p:nvPr/>
        </p:nvSpPr>
        <p:spPr>
          <a:xfrm>
            <a:off x="6263640" y="5591160"/>
            <a:ext cx="255600" cy="21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 strike="noStrike" spc="-1">
                <a:solidFill>
                  <a:srgbClr val="0F4C5C"/>
                </a:solidFill>
                <a:latin typeface="Calibri"/>
              </a:rPr>
              <a:t>4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130" name="TextBox 29"/>
          <p:cNvSpPr/>
          <p:nvPr/>
        </p:nvSpPr>
        <p:spPr>
          <a:xfrm>
            <a:off x="6629400" y="5523120"/>
            <a:ext cx="48459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00" b="1" strike="noStrike" spc="-1">
                <a:solidFill>
                  <a:srgbClr val="0F4C5C"/>
                </a:solidFill>
                <a:latin typeface="Calibri"/>
              </a:rPr>
              <a:t>Klein starten</a:t>
            </a:r>
            <a:endParaRPr lang="de-CH" sz="1300" b="0" strike="noStrike" spc="-1">
              <a:latin typeface="Arial"/>
            </a:endParaRPr>
          </a:p>
        </p:txBody>
      </p:sp>
      <p:sp>
        <p:nvSpPr>
          <p:cNvPr id="131" name="TextBox 30"/>
          <p:cNvSpPr/>
          <p:nvPr/>
        </p:nvSpPr>
        <p:spPr>
          <a:xfrm>
            <a:off x="6629400" y="5815440"/>
            <a:ext cx="4845960" cy="20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100" b="0" strike="noStrike" spc="-1">
                <a:solidFill>
                  <a:srgbClr val="1F2937"/>
                </a:solidFill>
                <a:latin typeface="Calibri"/>
              </a:rPr>
              <a:t>Nur ein Pilot-Bereich – Pflege-Routine beobachten, bevor skaliert wird.</a:t>
            </a:r>
            <a:endParaRPr lang="de-CH" sz="11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4C5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Rectangle 2"/>
          <p:cNvSpPr/>
          <p:nvPr/>
        </p:nvSpPr>
        <p:spPr>
          <a:xfrm>
            <a:off x="0" y="0"/>
            <a:ext cx="365400" cy="685764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9" name="TextBox 3"/>
          <p:cNvSpPr/>
          <p:nvPr/>
        </p:nvSpPr>
        <p:spPr>
          <a:xfrm>
            <a:off x="777240" y="502920"/>
            <a:ext cx="1097244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100" b="1" strike="noStrike" spc="-1">
                <a:solidFill>
                  <a:srgbClr val="00A896"/>
                </a:solidFill>
                <a:latin typeface="Calibri"/>
              </a:rPr>
              <a:t>05 · WAS OFFEN IST UND WIE ES WEITERGEHT</a:t>
            </a:r>
            <a:endParaRPr lang="de-CH" sz="1100" b="0" strike="noStrike" spc="-1">
              <a:latin typeface="Arial"/>
            </a:endParaRPr>
          </a:p>
        </p:txBody>
      </p:sp>
      <p:sp>
        <p:nvSpPr>
          <p:cNvPr id="170" name="TextBox 4"/>
          <p:cNvSpPr/>
          <p:nvPr/>
        </p:nvSpPr>
        <p:spPr>
          <a:xfrm>
            <a:off x="777240" y="777240"/>
            <a:ext cx="1097244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Ehrlicher Stand und nächste Schritte</a:t>
            </a:r>
            <a:endParaRPr lang="de-CH" sz="3200" b="0" strike="noStrike" spc="-1">
              <a:latin typeface="Arial"/>
            </a:endParaRPr>
          </a:p>
        </p:txBody>
      </p:sp>
      <p:sp>
        <p:nvSpPr>
          <p:cNvPr id="171" name="Rectangle 5"/>
          <p:cNvSpPr/>
          <p:nvPr/>
        </p:nvSpPr>
        <p:spPr>
          <a:xfrm>
            <a:off x="777240" y="1627560"/>
            <a:ext cx="548280" cy="4536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2" name="Rectangle 6"/>
          <p:cNvSpPr/>
          <p:nvPr/>
        </p:nvSpPr>
        <p:spPr>
          <a:xfrm>
            <a:off x="777240" y="2011680"/>
            <a:ext cx="5348880" cy="41144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Rounded Rectangle 7"/>
          <p:cNvSpPr/>
          <p:nvPr/>
        </p:nvSpPr>
        <p:spPr>
          <a:xfrm>
            <a:off x="1044422" y="2240280"/>
            <a:ext cx="991204" cy="292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0" rIns="45720" bIns="0" anchor="ctr">
            <a:noAutofit/>
          </a:bodyPr>
          <a:lstStyle/>
          <a:p>
            <a:pPr algn="ctr"/>
            <a:r>
              <a:rPr lang="en-US" sz="1000" b="1" spc="-1">
                <a:solidFill>
                  <a:srgbClr val="0F4C5C"/>
                </a:solidFill>
                <a:latin typeface="Calibri"/>
              </a:rPr>
              <a:t>Noch </a:t>
            </a:r>
            <a:r>
              <a:rPr lang="en-US" sz="1000" b="1" spc="-1" err="1">
                <a:solidFill>
                  <a:srgbClr val="0F4C5C"/>
                </a:solidFill>
                <a:latin typeface="Calibri"/>
              </a:rPr>
              <a:t>zu</a:t>
            </a:r>
            <a:r>
              <a:rPr lang="en-US" sz="1000" b="1" spc="-1">
                <a:solidFill>
                  <a:srgbClr val="0F4C5C"/>
                </a:solidFill>
                <a:latin typeface="Calibri"/>
              </a:rPr>
              <a:t> </a:t>
            </a:r>
            <a:r>
              <a:rPr lang="en-US" sz="1000" b="1" spc="-1" err="1">
                <a:solidFill>
                  <a:srgbClr val="0F4C5C"/>
                </a:solidFill>
                <a:latin typeface="Calibri"/>
              </a:rPr>
              <a:t>klären</a:t>
            </a:r>
            <a:endParaRPr lang="de-CH" sz="1000" b="0" strike="noStrike" spc="-1" err="1">
              <a:latin typeface="Arial"/>
            </a:endParaRPr>
          </a:p>
        </p:txBody>
      </p:sp>
      <p:sp>
        <p:nvSpPr>
          <p:cNvPr id="175" name="Oval 9"/>
          <p:cNvSpPr/>
          <p:nvPr/>
        </p:nvSpPr>
        <p:spPr>
          <a:xfrm>
            <a:off x="1005840" y="3547800"/>
            <a:ext cx="164160" cy="16416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" name="TextBox 10"/>
          <p:cNvSpPr/>
          <p:nvPr/>
        </p:nvSpPr>
        <p:spPr>
          <a:xfrm>
            <a:off x="1325880" y="3515810"/>
            <a:ext cx="4708800" cy="23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</a:rPr>
              <a:t>Welcher Pilot-Bereich? (blockt alles)</a:t>
            </a:r>
            <a:endParaRPr lang="de-CH" sz="1300" b="0" strike="noStrike" spc="-1">
              <a:latin typeface="Arial"/>
            </a:endParaRPr>
          </a:p>
        </p:txBody>
      </p:sp>
      <p:sp>
        <p:nvSpPr>
          <p:cNvPr id="177" name="Oval 11"/>
          <p:cNvSpPr/>
          <p:nvPr/>
        </p:nvSpPr>
        <p:spPr>
          <a:xfrm>
            <a:off x="1005840" y="4005000"/>
            <a:ext cx="164160" cy="16416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Oval 13"/>
          <p:cNvSpPr/>
          <p:nvPr/>
        </p:nvSpPr>
        <p:spPr>
          <a:xfrm>
            <a:off x="1005840" y="4462200"/>
            <a:ext cx="164160" cy="16416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TextBox 14"/>
          <p:cNvSpPr/>
          <p:nvPr/>
        </p:nvSpPr>
        <p:spPr>
          <a:xfrm>
            <a:off x="1325880" y="3967223"/>
            <a:ext cx="4708800" cy="23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</a:rPr>
              <a:t>LLM-Wahl: on-prem oder Azure OpenAI EU?</a:t>
            </a:r>
            <a:endParaRPr lang="de-CH" sz="1300" b="0" strike="noStrike" spc="-1">
              <a:latin typeface="Arial"/>
            </a:endParaRPr>
          </a:p>
        </p:txBody>
      </p:sp>
      <p:sp>
        <p:nvSpPr>
          <p:cNvPr id="182" name="TextBox 16"/>
          <p:cNvSpPr/>
          <p:nvPr/>
        </p:nvSpPr>
        <p:spPr>
          <a:xfrm>
            <a:off x="1325880" y="4424423"/>
            <a:ext cx="4708800" cy="23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</a:rPr>
              <a:t>Datenschutz-Freigabe für Korpus-Inhalte</a:t>
            </a:r>
            <a:endParaRPr lang="de-CH" sz="1300" b="0" strike="noStrike" spc="-1">
              <a:latin typeface="Arial"/>
            </a:endParaRPr>
          </a:p>
        </p:txBody>
      </p:sp>
      <p:sp>
        <p:nvSpPr>
          <p:cNvPr id="185" name="Rectangle 19"/>
          <p:cNvSpPr/>
          <p:nvPr/>
        </p:nvSpPr>
        <p:spPr>
          <a:xfrm>
            <a:off x="6400800" y="2011680"/>
            <a:ext cx="5348880" cy="411444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Rounded Rectangle 20"/>
          <p:cNvSpPr/>
          <p:nvPr/>
        </p:nvSpPr>
        <p:spPr>
          <a:xfrm>
            <a:off x="6629400" y="2240280"/>
            <a:ext cx="1691280" cy="292320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0" rIns="4572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</a:rPr>
              <a:t>NÄCHSTE SCHRITTE</a:t>
            </a:r>
            <a:endParaRPr lang="de-CH" sz="1000" b="0" strike="noStrike" spc="-1">
              <a:latin typeface="Arial"/>
            </a:endParaRPr>
          </a:p>
        </p:txBody>
      </p:sp>
      <p:sp>
        <p:nvSpPr>
          <p:cNvPr id="188" name="Oval 22"/>
          <p:cNvSpPr/>
          <p:nvPr/>
        </p:nvSpPr>
        <p:spPr>
          <a:xfrm>
            <a:off x="6629400" y="3474720"/>
            <a:ext cx="310680" cy="310680"/>
          </a:xfrm>
          <a:prstGeom prst="ellipse">
            <a:avLst/>
          </a:prstGeom>
          <a:solidFill>
            <a:srgbClr val="0F4C5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9" name="TextBox 23"/>
          <p:cNvSpPr/>
          <p:nvPr/>
        </p:nvSpPr>
        <p:spPr>
          <a:xfrm>
            <a:off x="6629400" y="3524760"/>
            <a:ext cx="310680" cy="21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 strike="noStrike" spc="-1">
                <a:solidFill>
                  <a:srgbClr val="00A896"/>
                </a:solidFill>
                <a:latin typeface="Calibri"/>
              </a:rPr>
              <a:t>1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191" name="Oval 25"/>
          <p:cNvSpPr/>
          <p:nvPr/>
        </p:nvSpPr>
        <p:spPr>
          <a:xfrm>
            <a:off x="6629400" y="3931920"/>
            <a:ext cx="310680" cy="310680"/>
          </a:xfrm>
          <a:prstGeom prst="ellipse">
            <a:avLst/>
          </a:prstGeom>
          <a:solidFill>
            <a:srgbClr val="0F4C5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2" name="TextBox 26"/>
          <p:cNvSpPr/>
          <p:nvPr/>
        </p:nvSpPr>
        <p:spPr>
          <a:xfrm>
            <a:off x="6629400" y="3981960"/>
            <a:ext cx="310680" cy="21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 strike="noStrike" spc="-1">
                <a:solidFill>
                  <a:srgbClr val="00A896"/>
                </a:solidFill>
                <a:latin typeface="Calibri"/>
              </a:rPr>
              <a:t>2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193" name="TextBox 27"/>
          <p:cNvSpPr/>
          <p:nvPr/>
        </p:nvSpPr>
        <p:spPr>
          <a:xfrm>
            <a:off x="7040880" y="3500377"/>
            <a:ext cx="4571640" cy="23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00" b="1" strike="noStrike" spc="-1">
                <a:solidFill>
                  <a:srgbClr val="0F4C5C"/>
                </a:solidFill>
                <a:latin typeface="Calibri"/>
              </a:rPr>
              <a:t>5–10 echte Lara-Fragen sammeln (Test-Set)</a:t>
            </a:r>
            <a:endParaRPr lang="de-CH" sz="1300" b="0" strike="noStrike" spc="-1">
              <a:latin typeface="Arial"/>
            </a:endParaRPr>
          </a:p>
        </p:txBody>
      </p:sp>
      <p:sp>
        <p:nvSpPr>
          <p:cNvPr id="194" name="Oval 28"/>
          <p:cNvSpPr/>
          <p:nvPr/>
        </p:nvSpPr>
        <p:spPr>
          <a:xfrm>
            <a:off x="6629400" y="4389120"/>
            <a:ext cx="310680" cy="310680"/>
          </a:xfrm>
          <a:prstGeom prst="ellipse">
            <a:avLst/>
          </a:prstGeom>
          <a:solidFill>
            <a:srgbClr val="0F4C5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5" name="TextBox 29"/>
          <p:cNvSpPr/>
          <p:nvPr/>
        </p:nvSpPr>
        <p:spPr>
          <a:xfrm>
            <a:off x="6629400" y="4439160"/>
            <a:ext cx="310680" cy="21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 strike="noStrike" spc="-1">
                <a:solidFill>
                  <a:srgbClr val="00A896"/>
                </a:solidFill>
                <a:latin typeface="Calibri"/>
              </a:rPr>
              <a:t>3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196" name="TextBox 30"/>
          <p:cNvSpPr/>
          <p:nvPr/>
        </p:nvSpPr>
        <p:spPr>
          <a:xfrm>
            <a:off x="7040880" y="3957577"/>
            <a:ext cx="4571640" cy="23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00" b="1" strike="noStrike" spc="-1">
                <a:solidFill>
                  <a:srgbClr val="0F4C5C"/>
                </a:solidFill>
                <a:latin typeface="Calibri"/>
              </a:rPr>
              <a:t>Tech-Spike: RAG-Prototyp auf 5 Demo-Dokumenten</a:t>
            </a:r>
            <a:endParaRPr lang="de-CH" sz="1300" b="0" strike="noStrike" spc="-1">
              <a:latin typeface="Arial"/>
            </a:endParaRPr>
          </a:p>
        </p:txBody>
      </p:sp>
      <p:sp>
        <p:nvSpPr>
          <p:cNvPr id="198" name="TextBox 32"/>
          <p:cNvSpPr/>
          <p:nvPr/>
        </p:nvSpPr>
        <p:spPr>
          <a:xfrm>
            <a:off x="6629400" y="4896360"/>
            <a:ext cx="310680" cy="21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 strike="noStrike" spc="-1">
                <a:solidFill>
                  <a:srgbClr val="00A896"/>
                </a:solidFill>
                <a:latin typeface="Calibri"/>
              </a:rPr>
              <a:t>4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201" name="TextBox 35"/>
          <p:cNvSpPr/>
          <p:nvPr/>
        </p:nvSpPr>
        <p:spPr>
          <a:xfrm>
            <a:off x="6629400" y="5353560"/>
            <a:ext cx="310680" cy="21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 strike="noStrike" spc="-1">
                <a:solidFill>
                  <a:srgbClr val="00A896"/>
                </a:solidFill>
                <a:latin typeface="Calibri"/>
              </a:rPr>
              <a:t>5</a:t>
            </a:r>
            <a:endParaRPr lang="de-CH" sz="1200" b="0" strike="noStrike" spc="-1">
              <a:latin typeface="Arial"/>
            </a:endParaRPr>
          </a:p>
        </p:txBody>
      </p:sp>
      <p:sp>
        <p:nvSpPr>
          <p:cNvPr id="202" name="TextBox 36"/>
          <p:cNvSpPr/>
          <p:nvPr/>
        </p:nvSpPr>
        <p:spPr>
          <a:xfrm>
            <a:off x="7040880" y="4418635"/>
            <a:ext cx="4571640" cy="23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00" b="1" strike="noStrike" spc="-1">
                <a:solidFill>
                  <a:srgbClr val="0F4C5C"/>
                </a:solidFill>
                <a:latin typeface="Calibri"/>
              </a:rPr>
              <a:t>Mockup der Q&amp;A-Ansicht mit Quellenanzeige</a:t>
            </a:r>
            <a:endParaRPr lang="de-CH" sz="1300" b="0" strike="noStrike" spc="-1">
              <a:latin typeface="Arial"/>
            </a:endParaRPr>
          </a:p>
        </p:txBody>
      </p:sp>
      <p:sp>
        <p:nvSpPr>
          <p:cNvPr id="203" name="Rectangle 37"/>
          <p:cNvSpPr/>
          <p:nvPr/>
        </p:nvSpPr>
        <p:spPr>
          <a:xfrm>
            <a:off x="777240" y="6446520"/>
            <a:ext cx="10972440" cy="3636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4" name="TextBox 38"/>
          <p:cNvSpPr/>
          <p:nvPr/>
        </p:nvSpPr>
        <p:spPr>
          <a:xfrm>
            <a:off x="777240" y="6537960"/>
            <a:ext cx="685764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100" b="0" strike="noStrike" spc="-1">
                <a:solidFill>
                  <a:srgbClr val="FAF9F6"/>
                </a:solidFill>
                <a:latin typeface="Calibri"/>
              </a:rPr>
              <a:t>Machbarkeit bis 30. September mit 3 Personen:</a:t>
            </a:r>
            <a:endParaRPr lang="de-CH" sz="1100" b="0" strike="noStrike" spc="-1">
              <a:latin typeface="Arial"/>
            </a:endParaRPr>
          </a:p>
        </p:txBody>
      </p:sp>
      <p:sp>
        <p:nvSpPr>
          <p:cNvPr id="205" name="TextBox 39"/>
          <p:cNvSpPr/>
          <p:nvPr/>
        </p:nvSpPr>
        <p:spPr>
          <a:xfrm>
            <a:off x="7498080" y="6537960"/>
            <a:ext cx="457164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1100" b="1" strike="noStrike" spc="-1">
                <a:solidFill>
                  <a:srgbClr val="00A896"/>
                </a:solidFill>
                <a:latin typeface="Calibri"/>
              </a:rPr>
              <a:t>JA – mit Scope-Disziplin auf 4 Stories.</a:t>
            </a:r>
            <a:endParaRPr lang="de-CH" sz="11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68CE482115E7142B1C6BF76AD8FCEED" ma:contentTypeVersion="7" ma:contentTypeDescription="Ein neues Dokument erstellen." ma:contentTypeScope="" ma:versionID="acd299953943c82d4eb783490a1c855c">
  <xsd:schema xmlns:xsd="http://www.w3.org/2001/XMLSchema" xmlns:xs="http://www.w3.org/2001/XMLSchema" xmlns:p="http://schemas.microsoft.com/office/2006/metadata/properties" xmlns:ns2="4d62deb9-d706-4502-8e07-c932e172efd9" targetNamespace="http://schemas.microsoft.com/office/2006/metadata/properties" ma:root="true" ma:fieldsID="4672c01ccb0dfc0d8c1e64443845d4e1" ns2:_="">
    <xsd:import namespace="4d62deb9-d706-4502-8e07-c932e172ef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62deb9-d706-4502-8e07-c932e172ef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C34BD5-6F54-4569-9ADB-44647D9BB16F}">
  <ds:schemaRefs>
    <ds:schemaRef ds:uri="4d62deb9-d706-4502-8e07-c932e172ef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DAB37F2-4374-4822-B47B-C74A3A0455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925429-3ADD-42A5-9289-2562B8E1CDF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revision>1</cp:revision>
  <dcterms:created xsi:type="dcterms:W3CDTF">2013-01-27T09:14:16Z</dcterms:created>
  <dcterms:modified xsi:type="dcterms:W3CDTF">2026-05-04T16:21:27Z</dcterms:modified>
  <dc:language>de-CH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ContentTypeId">
    <vt:lpwstr>0x010100168CE482115E7142B1C6BF76AD8FCEED</vt:lpwstr>
  </property>
</Properties>
</file>